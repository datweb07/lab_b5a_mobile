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3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5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4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7.xml"/><Relationship Id="rId46" Type="http://schemas.openxmlformats.org/officeDocument/2006/relationships/font" Target="fonts/OpenSans-italic.fntdata"/><Relationship Id="rId23" Type="http://schemas.openxmlformats.org/officeDocument/2006/relationships/slide" Target="slides/slide16.xml"/><Relationship Id="rId45" Type="http://schemas.openxmlformats.org/officeDocument/2006/relationships/font" Target="fonts/OpenSans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83a708a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83a708a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9058cd991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9058cd99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27ebdf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27ebdf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6710305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6710305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7ebdffc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27ebdff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623af889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623af889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9058cd99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9058cd99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67aa53e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67aa53e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623af889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623af889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623af889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623af889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3a708af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83a708af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83a708aff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83a708af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623af889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623af889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3a708aff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3a708aff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9058cd99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9058cd99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27e0387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27e0387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e0387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27e0387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841c5b3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841c5b3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27e03875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27e03875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7e03875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27e03875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67103055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67103055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623df383d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623df383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9058cd99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9058cd99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623df383d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623df383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6743fd38d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6743fd38d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83a708aff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83a708aff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6743fd38d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6743fd38d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83a708af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83a708af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83a708af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83a708af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83a708af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83a708af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Relationship Id="rId3" Type="http://schemas.openxmlformats.org/officeDocument/2006/relationships/image" Target="../media/image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9" name="Google Shape;5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5" name="Google Shape;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2305475" y="4761375"/>
            <a:ext cx="2314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6" name="Google Shape;12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7" name="Google Shape;1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5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5" name="Google Shape;165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8" name="Google Shape;178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2" name="Google Shape;182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" name="Google Shape;183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3" name="Google Shape;19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4" name="Google Shape;1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9" name="Google Shape;199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" name="Google Shape;200;p38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2" name="Google Shape;20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6" name="Google Shape;216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0" name="Google Shape;220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9" name="Google Shape;229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1" name="Google Shape;251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4" name="Google Shape;254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7" name="Google Shape;25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1" name="Google Shape;261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2" name="Google Shape;262;p5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63" name="Google Shape;2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51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61375"/>
            <a:ext cx="22977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4" name="Google Shape;7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229275" y="4761375"/>
            <a:ext cx="233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6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1" name="Google Shape;141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2229275" y="4761375"/>
            <a:ext cx="22977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8" name="Google Shape;208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0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android.com/reference/android/widget/EditText.html" TargetMode="External"/><Relationship Id="rId4" Type="http://schemas.openxmlformats.org/officeDocument/2006/relationships/hyperlink" Target="https://developer.android.com/reference/android/widget/SeekBar.html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s://developer.android.com/reference/android/widget/CheckBox.html" TargetMode="External"/><Relationship Id="rId6" Type="http://schemas.openxmlformats.org/officeDocument/2006/relationships/hyperlink" Target="https://developer.android.com/reference/android/widget/RadioButton.html" TargetMode="External"/><Relationship Id="rId7" Type="http://schemas.openxmlformats.org/officeDocument/2006/relationships/hyperlink" Target="https://developer.android.com/reference/android/widget/Switch.html" TargetMode="External"/><Relationship Id="rId8" Type="http://schemas.openxmlformats.org/officeDocument/2006/relationships/hyperlink" Target="https://developer.android.com/reference/android/widget/Spinner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android/widget/RadioGroup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view/View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view/View.html" TargetMode="External"/><Relationship Id="rId4" Type="http://schemas.openxmlformats.org/officeDocument/2006/relationships/hyperlink" Target="https://developer.android.com/reference/android/view/View.html#setFocusable(boolean)" TargetMode="External"/><Relationship Id="rId5" Type="http://schemas.openxmlformats.org/officeDocument/2006/relationships/hyperlink" Target="https://developer.android.com/reference/android/view/View.html#requestFocus()" TargetMode="External"/><Relationship Id="rId6" Type="http://schemas.openxmlformats.org/officeDocument/2006/relationships/hyperlink" Target="https://developer.android.com/reference/android/view/View.html#setOnFocusChangeListener(android.view.View.OnFocusChangeListener)" TargetMode="External"/><Relationship Id="rId7" Type="http://schemas.openxmlformats.org/officeDocument/2006/relationships/hyperlink" Target="https://developer.android.com/reference/android/view/View.html#onFocusChanged(boolean,%20int,%20android.graphics.Rect)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app/Activity.html#getCurrentFocus%28%29" TargetMode="External"/><Relationship Id="rId4" Type="http://schemas.openxmlformats.org/officeDocument/2006/relationships/hyperlink" Target="https://developer.android.com/reference/android/view/ViewGroup.html#getFocusedChild()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edittext" TargetMode="External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5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widget/CheckBox.html" TargetMode="External"/><Relationship Id="rId4" Type="http://schemas.openxmlformats.org/officeDocument/2006/relationships/hyperlink" Target="https://developer.android.com/reference/android/widget/RadioButton.html" TargetMode="External"/><Relationship Id="rId9" Type="http://schemas.openxmlformats.org/officeDocument/2006/relationships/image" Target="../media/image23.png"/><Relationship Id="rId5" Type="http://schemas.openxmlformats.org/officeDocument/2006/relationships/hyperlink" Target="https://developer.android.com/reference/android/widget/ToggleButton.html" TargetMode="External"/><Relationship Id="rId6" Type="http://schemas.openxmlformats.org/officeDocument/2006/relationships/hyperlink" Target="https://developer.android.com/reference/android/widget/Switch.html" TargetMode="External"/><Relationship Id="rId7" Type="http://schemas.openxmlformats.org/officeDocument/2006/relationships/hyperlink" Target="https://developer.android.com/reference/android/widget/Spinner.html" TargetMode="External"/><Relationship Id="rId8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widget/RadioButton.html" TargetMode="External"/><Relationship Id="rId4" Type="http://schemas.openxmlformats.org/officeDocument/2006/relationships/hyperlink" Target="https://developer.android.com/reference/android/widget/RadioGroup.html" TargetMode="External"/><Relationship Id="rId5" Type="http://schemas.openxmlformats.org/officeDocument/2006/relationships/hyperlink" Target="https://developer.android.com/reference/android/widget/RadioButton.html" TargetMode="External"/><Relationship Id="rId6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developer.android.com/guide/topics/ui/controls.html" TargetMode="External"/><Relationship Id="rId4" Type="http://schemas.openxmlformats.org/officeDocument/2006/relationships/hyperlink" Target="https://developer.android.com/guide/topics/ui/controls/radiobutton.html" TargetMode="External"/><Relationship Id="rId5" Type="http://schemas.openxmlformats.org/officeDocument/2006/relationships/hyperlink" Target="http://developer.android.com/training/keyboard-input/style.html" TargetMode="External"/><Relationship Id="rId6" Type="http://schemas.openxmlformats.org/officeDocument/2006/relationships/hyperlink" Target="https://developer.android.com/training/keyboard-input/style.html#Action" TargetMode="External"/><Relationship Id="rId7" Type="http://schemas.openxmlformats.org/officeDocument/2006/relationships/hyperlink" Target="http://developer.android.com/guide/topics/ui/controls/text.html" TargetMode="External"/><Relationship Id="rId8" Type="http://schemas.openxmlformats.org/officeDocument/2006/relationships/hyperlink" Target="http://developer.android.com/guide/topics/ui/controls/spinner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oogle-developer-training.github.io/android-developer-fundamentals-course-concepts-v2/unit-2-user-experience/lesson-4-user-interaction/4-2-c-input-controls/4-2-c-input-controls.html" TargetMode="External"/><Relationship Id="rId4" Type="http://schemas.openxmlformats.org/officeDocument/2006/relationships/hyperlink" Target="https://codelabs.developers.google.com/codelabs/android-training-input-control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265500" y="1154475"/>
            <a:ext cx="4045200" cy="178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Interaction </a:t>
            </a:r>
            <a:endParaRPr/>
          </a:p>
        </p:txBody>
      </p:sp>
      <p:sp>
        <p:nvSpPr>
          <p:cNvPr id="275" name="Google Shape;275;p5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7" name="Google Shape;277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4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 Input Controls</a:t>
            </a:r>
            <a:endParaRPr/>
          </a:p>
        </p:txBody>
      </p:sp>
      <p:sp>
        <p:nvSpPr>
          <p:cNvPr id="283" name="Google Shape;283;p54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0" name="Google Shape;290;p55"/>
          <p:cNvSpPr txBox="1"/>
          <p:nvPr>
            <p:ph idx="1" type="body"/>
          </p:nvPr>
        </p:nvSpPr>
        <p:spPr>
          <a:xfrm>
            <a:off x="311700" y="1213525"/>
            <a:ext cx="8398800" cy="32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Overview of input controls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View focus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Freeform text and numbers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Providing choices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6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input Controls</a:t>
            </a:r>
            <a:endParaRPr/>
          </a:p>
        </p:txBody>
      </p:sp>
      <p:sp>
        <p:nvSpPr>
          <p:cNvPr id="297" name="Google Shape;297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Accepting user input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4" name="Google Shape;304;p57"/>
          <p:cNvSpPr txBox="1"/>
          <p:nvPr>
            <p:ph idx="1" type="body"/>
          </p:nvPr>
        </p:nvSpPr>
        <p:spPr>
          <a:xfrm>
            <a:off x="311700" y="1316225"/>
            <a:ext cx="8398800" cy="31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Freeform text and numbers: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</a:rPr>
              <a:t> (using keyboard)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Providing choices: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</a:rPr>
              <a:t>Switching on/off: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Toggle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Choosing value in range of values: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SeekBar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5" name="Google Shape;305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8"/>
          <p:cNvSpPr txBox="1"/>
          <p:nvPr>
            <p:ph idx="1" type="body"/>
          </p:nvPr>
        </p:nvSpPr>
        <p:spPr>
          <a:xfrm>
            <a:off x="311700" y="1152475"/>
            <a:ext cx="2982600" cy="39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EditText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SeekBar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CheckBox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RadioButton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Switch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Spinner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800"/>
          </a:p>
        </p:txBody>
      </p:sp>
      <p:sp>
        <p:nvSpPr>
          <p:cNvPr id="311" name="Google Shape;311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Examples of input controls</a:t>
            </a:r>
            <a:endParaRPr/>
          </a:p>
        </p:txBody>
      </p:sp>
      <p:sp>
        <p:nvSpPr>
          <p:cNvPr id="312" name="Google Shape;312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05125" y="1745395"/>
            <a:ext cx="5267325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9"/>
          <p:cNvSpPr txBox="1"/>
          <p:nvPr>
            <p:ph idx="1" type="body"/>
          </p:nvPr>
        </p:nvSpPr>
        <p:spPr>
          <a:xfrm>
            <a:off x="311700" y="933475"/>
            <a:ext cx="8080200" cy="41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</a:rPr>
              <a:t> for entering text using keyboard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SeekBar</a:t>
            </a:r>
            <a:r>
              <a:rPr lang="en">
                <a:solidFill>
                  <a:schemeClr val="dk1"/>
                </a:solidFill>
              </a:rPr>
              <a:t> for sliding left or right to a setting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Combine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chemeClr val="dk1"/>
                </a:solidFill>
              </a:rPr>
              <a:t> elements for choosing more than one option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Combine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r>
              <a:rPr lang="en">
                <a:solidFill>
                  <a:schemeClr val="dk1"/>
                </a:solidFill>
              </a:rPr>
              <a:t> elements into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RadioGroup</a:t>
            </a:r>
            <a:r>
              <a:rPr lang="en">
                <a:solidFill>
                  <a:schemeClr val="dk1"/>
                </a:solidFill>
              </a:rPr>
              <a:t> — user makes only one choice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">
                <a:solidFill>
                  <a:schemeClr val="dk1"/>
                </a:solidFill>
              </a:rPr>
              <a:t> for tapping on or off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r>
              <a:rPr lang="en">
                <a:solidFill>
                  <a:schemeClr val="dk1"/>
                </a:solidFill>
              </a:rPr>
              <a:t> for choosing a single item from a list</a:t>
            </a:r>
            <a:endParaRPr/>
          </a:p>
        </p:txBody>
      </p:sp>
      <p:sp>
        <p:nvSpPr>
          <p:cNvPr id="319" name="Google Shape;319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</a:t>
            </a:r>
            <a:r>
              <a:rPr lang="en"/>
              <a:t> input controls work</a:t>
            </a:r>
            <a:endParaRPr/>
          </a:p>
        </p:txBody>
      </p:sp>
      <p:sp>
        <p:nvSpPr>
          <p:cNvPr id="320" name="Google Shape;320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is base class for input controls</a:t>
            </a:r>
            <a:endParaRPr/>
          </a:p>
        </p:txBody>
      </p:sp>
      <p:sp>
        <p:nvSpPr>
          <p:cNvPr id="326" name="Google Shape;326;p60"/>
          <p:cNvSpPr txBox="1"/>
          <p:nvPr>
            <p:ph idx="1" type="body"/>
          </p:nvPr>
        </p:nvSpPr>
        <p:spPr>
          <a:xfrm>
            <a:off x="311700" y="10762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</a:t>
            </a:r>
            <a:r>
              <a:rPr lang="en"/>
              <a:t> class is the basic building block for all UI components, including input controls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is the base class for classes that provide interactive UI components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provides basic interaction through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focus</a:t>
            </a:r>
            <a:endParaRPr/>
          </a:p>
        </p:txBody>
      </p:sp>
      <p:sp>
        <p:nvSpPr>
          <p:cNvPr id="333" name="Google Shape;333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</a:t>
            </a:r>
            <a:endParaRPr/>
          </a:p>
        </p:txBody>
      </p:sp>
      <p:sp>
        <p:nvSpPr>
          <p:cNvPr id="340" name="Google Shape;340;p6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View that receives user input has "Focus"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one View can have focus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makes it unambiguous which View gets the input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is assigned by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User tapping a View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App guiding the user from one </a:t>
            </a:r>
            <a:r>
              <a:rPr lang="en"/>
              <a:t>text </a:t>
            </a:r>
            <a:r>
              <a:rPr lang="en"/>
              <a:t>input control to the next using the </a:t>
            </a:r>
            <a:r>
              <a:rPr b="1" lang="en"/>
              <a:t>Return</a:t>
            </a:r>
            <a:r>
              <a:rPr lang="en"/>
              <a:t>, </a:t>
            </a:r>
            <a:r>
              <a:rPr b="1" lang="en"/>
              <a:t>Tab</a:t>
            </a:r>
            <a:r>
              <a:rPr lang="en"/>
              <a:t>, or arrow keys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Calling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requestFocus()</a:t>
            </a:r>
            <a:r>
              <a:rPr lang="en"/>
              <a:t> on any View that is focusable</a:t>
            </a:r>
            <a:endParaRPr/>
          </a:p>
        </p:txBody>
      </p:sp>
      <p:sp>
        <p:nvSpPr>
          <p:cNvPr id="341" name="Google Shape;341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Clickable versus focusable</a:t>
            </a:r>
            <a:endParaRPr/>
          </a:p>
        </p:txBody>
      </p:sp>
      <p:sp>
        <p:nvSpPr>
          <p:cNvPr id="347" name="Google Shape;347;p6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C</a:t>
            </a:r>
            <a:r>
              <a:rPr b="1" lang="en"/>
              <a:t>lickable</a:t>
            </a:r>
            <a:r>
              <a:rPr lang="en"/>
              <a:t>—View can respond to being clicked or tapped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Focusable</a:t>
            </a:r>
            <a:r>
              <a:rPr lang="en"/>
              <a:t>—View can gain focus to accept input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Input controls such as keyboards send input to the view that has focus</a:t>
            </a:r>
            <a:endParaRPr/>
          </a:p>
        </p:txBody>
      </p:sp>
      <p:sp>
        <p:nvSpPr>
          <p:cNvPr id="348" name="Google Shape;348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View gets focus next?</a:t>
            </a:r>
            <a:endParaRPr/>
          </a:p>
        </p:txBody>
      </p:sp>
      <p:sp>
        <p:nvSpPr>
          <p:cNvPr id="354" name="Google Shape;354;p64"/>
          <p:cNvSpPr txBox="1"/>
          <p:nvPr>
            <p:ph idx="1" type="body"/>
          </p:nvPr>
        </p:nvSpPr>
        <p:spPr>
          <a:xfrm>
            <a:off x="311700" y="1381075"/>
            <a:ext cx="8520600" cy="31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</a:t>
            </a:r>
            <a:r>
              <a:rPr lang="en"/>
              <a:t>opmost view under the touch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After user submits input, focus moves to nearest neighbor—</a:t>
            </a:r>
            <a:r>
              <a:rPr lang="en" sz="2400"/>
              <a:t>priority is left to right, top to bottom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can change when user interacts with a directional control</a:t>
            </a:r>
            <a:endParaRPr/>
          </a:p>
        </p:txBody>
      </p:sp>
      <p:sp>
        <p:nvSpPr>
          <p:cNvPr id="355" name="Google Shape;35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users</a:t>
            </a:r>
            <a:endParaRPr/>
          </a:p>
        </p:txBody>
      </p:sp>
      <p:sp>
        <p:nvSpPr>
          <p:cNvPr id="361" name="Google Shape;361;p6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Visually indicate which view has focus so users knows where their input goes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Visually indicate which views can have focus helps users navigate through flow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Predictable and logical—no surprises!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62" name="Google Shape;362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focus</a:t>
            </a:r>
            <a:endParaRPr/>
          </a:p>
        </p:txBody>
      </p:sp>
      <p:sp>
        <p:nvSpPr>
          <p:cNvPr id="368" name="Google Shape;368;p6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Arrange input controls in a layout from left to right and top to bottom in the order you want focus assigned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Place input controls inside a view group in your layout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Specify ordering in XML</a:t>
            </a:r>
            <a:endParaRPr/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android:id="@+id/top"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android:focusable="true"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android:nextFocusDown="@+id/bottom"</a:t>
            </a:r>
            <a:endParaRPr/>
          </a:p>
        </p:txBody>
      </p:sp>
      <p:sp>
        <p:nvSpPr>
          <p:cNvPr id="369" name="Google Shape;369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focus explicitly</a:t>
            </a:r>
            <a:endParaRPr/>
          </a:p>
        </p:txBody>
      </p:sp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311700" y="1152475"/>
            <a:ext cx="85206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methods of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</a:t>
            </a:r>
            <a:r>
              <a:rPr lang="en"/>
              <a:t> class to set focus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setFocusable()</a:t>
            </a:r>
            <a:r>
              <a:rPr lang="en"/>
              <a:t> sets whether a view can have focus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requestFocus()</a:t>
            </a:r>
            <a:r>
              <a:rPr lang="en"/>
              <a:t> gives focus to a specific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setOnFocusChangeListener()</a:t>
            </a:r>
            <a:r>
              <a:rPr lang="en"/>
              <a:t> sets listener for when view gains or loses focus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onFocusChanged()</a:t>
            </a:r>
            <a:r>
              <a:rPr lang="en"/>
              <a:t> called when focus on a view changes</a:t>
            </a:r>
            <a:endParaRPr/>
          </a:p>
        </p:txBody>
      </p:sp>
      <p:sp>
        <p:nvSpPr>
          <p:cNvPr id="376" name="Google Shape;376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view with focus</a:t>
            </a:r>
            <a:endParaRPr/>
          </a:p>
        </p:txBody>
      </p:sp>
      <p:sp>
        <p:nvSpPr>
          <p:cNvPr id="382" name="Google Shape;382;p68"/>
          <p:cNvSpPr txBox="1"/>
          <p:nvPr>
            <p:ph idx="1" type="body"/>
          </p:nvPr>
        </p:nvSpPr>
        <p:spPr>
          <a:xfrm>
            <a:off x="311700" y="1152475"/>
            <a:ext cx="85206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Activity.getCurrentFocus()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ViewGroup.getFocusedChild()</a:t>
            </a:r>
            <a:endParaRPr/>
          </a:p>
        </p:txBody>
      </p:sp>
      <p:sp>
        <p:nvSpPr>
          <p:cNvPr id="383" name="Google Shape;383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Freeform text and numbers</a:t>
            </a:r>
            <a:endParaRPr/>
          </a:p>
        </p:txBody>
      </p:sp>
      <p:sp>
        <p:nvSpPr>
          <p:cNvPr id="389" name="Google Shape;389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multiple lines of text</a:t>
            </a:r>
            <a:endParaRPr/>
          </a:p>
        </p:txBody>
      </p:sp>
      <p:sp>
        <p:nvSpPr>
          <p:cNvPr id="396" name="Google Shape;396;p70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EditText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default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Alphanumeric keyboard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Suggestions appear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Return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(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Enter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) key starts new line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97" name="Google Shape;397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8" name="Google Shape;398;p70"/>
          <p:cNvPicPr preferRelativeResize="0"/>
          <p:nvPr/>
        </p:nvPicPr>
        <p:blipFill rotWithShape="1">
          <a:blip r:embed="rId4">
            <a:alphaModFix/>
          </a:blip>
          <a:srcRect b="0" l="43800" r="9814" t="0"/>
          <a:stretch/>
        </p:blipFill>
        <p:spPr>
          <a:xfrm>
            <a:off x="5614600" y="1266938"/>
            <a:ext cx="2691075" cy="26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70"/>
          <p:cNvSpPr txBox="1"/>
          <p:nvPr/>
        </p:nvSpPr>
        <p:spPr>
          <a:xfrm>
            <a:off x="7150350" y="3973775"/>
            <a:ext cx="1761300" cy="5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70"/>
          <p:cNvSpPr/>
          <p:nvPr/>
        </p:nvSpPr>
        <p:spPr>
          <a:xfrm>
            <a:off x="79226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Customize with inputType</a:t>
            </a:r>
            <a:endParaRPr/>
          </a:p>
        </p:txBody>
      </p:sp>
      <p:sp>
        <p:nvSpPr>
          <p:cNvPr id="406" name="Google Shape;406;p71"/>
          <p:cNvSpPr txBox="1"/>
          <p:nvPr>
            <p:ph idx="1" type="body"/>
          </p:nvPr>
        </p:nvSpPr>
        <p:spPr>
          <a:xfrm>
            <a:off x="311700" y="1148150"/>
            <a:ext cx="5718600" cy="322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in Attributes pane of layout editor</a:t>
            </a:r>
            <a:endParaRPr/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XML code for EditText: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&lt;EditText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android:id="@+id/name_field"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android:inputType =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         "textPersonName"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7" name="Google Shape;407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8" name="Google Shape;40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225" y="170824"/>
            <a:ext cx="1626575" cy="49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message</a:t>
            </a:r>
            <a:endParaRPr/>
          </a:p>
        </p:txBody>
      </p:sp>
      <p:sp>
        <p:nvSpPr>
          <p:cNvPr id="414" name="Google Shape;414;p72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="textShortMessage"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Single line of text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Emoticons key changes keyboard to emoticons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15" name="Google Shape;415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6" name="Google Shape;4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060" y="1400514"/>
            <a:ext cx="2660846" cy="253743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72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Emoticons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72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2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single line</a:t>
            </a:r>
            <a:endParaRPr/>
          </a:p>
        </p:txBody>
      </p:sp>
      <p:sp>
        <p:nvSpPr>
          <p:cNvPr id="425" name="Google Shape;425;p73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Both work: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="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textLongMessage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="textPersonName"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Single line of text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Done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key advances focus to next View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26" name="Google Shape;426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Done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320" y="1389671"/>
            <a:ext cx="2645198" cy="253743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73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3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1753" y="1103659"/>
            <a:ext cx="2350024" cy="27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phone number entry</a:t>
            </a:r>
            <a:endParaRPr/>
          </a:p>
        </p:txBody>
      </p:sp>
      <p:sp>
        <p:nvSpPr>
          <p:cNvPr id="437" name="Google Shape;437;p74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 ="phone"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Numeric keypad (numbers only)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Done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key advances focus to next View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38" name="Google Shape;438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74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Done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74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4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text</a:t>
            </a:r>
            <a:endParaRPr/>
          </a:p>
        </p:txBody>
      </p:sp>
      <p:sp>
        <p:nvSpPr>
          <p:cNvPr id="447" name="Google Shape;447;p75"/>
          <p:cNvSpPr txBox="1"/>
          <p:nvPr>
            <p:ph idx="1" type="body"/>
          </p:nvPr>
        </p:nvSpPr>
        <p:spPr>
          <a:xfrm>
            <a:off x="311700" y="1148150"/>
            <a:ext cx="8709300" cy="322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the EditText object for the EditText view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EditText simpleEditText =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findViewById(R.id.edit_simple);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Retrieve the CharSequence and convert it to a string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strValue =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simpleEditText.getText().toString();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" name="Google Shape;448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6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types</a:t>
            </a:r>
            <a:endParaRPr/>
          </a:p>
        </p:txBody>
      </p:sp>
      <p:sp>
        <p:nvSpPr>
          <p:cNvPr id="454" name="Google Shape;454;p76"/>
          <p:cNvSpPr txBox="1"/>
          <p:nvPr>
            <p:ph idx="1" type="body"/>
          </p:nvPr>
        </p:nvSpPr>
        <p:spPr>
          <a:xfrm>
            <a:off x="234200" y="1080925"/>
            <a:ext cx="7867200" cy="33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textCapCharacters</a:t>
            </a:r>
            <a:r>
              <a:rPr lang="en" sz="1800"/>
              <a:t>: Set to all capital letters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textCapSentences</a:t>
            </a:r>
            <a:r>
              <a:rPr lang="en" sz="1800"/>
              <a:t>: Start each sentence with a capital letter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textPassword</a:t>
            </a:r>
            <a:r>
              <a:rPr lang="en" sz="1800"/>
              <a:t>: Conceal an entered password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800"/>
              <a:t>: Restrict text entry to numbers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textEmailAddress</a:t>
            </a:r>
            <a:r>
              <a:rPr lang="en" sz="1800"/>
              <a:t>: Show keyboard with </a:t>
            </a:r>
            <a:r>
              <a:rPr b="1" lang="en" sz="1800"/>
              <a:t>@</a:t>
            </a:r>
            <a:r>
              <a:rPr lang="en" sz="1800"/>
              <a:t> conveniently located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phone</a:t>
            </a:r>
            <a:r>
              <a:rPr lang="en" sz="1800"/>
              <a:t>: Show a numeric phone keypad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datetime</a:t>
            </a:r>
            <a:r>
              <a:rPr lang="en" sz="1800"/>
              <a:t>: Show a numeric keypad with a slash and colon for entering the date and time</a:t>
            </a:r>
            <a:endParaRPr sz="1800"/>
          </a:p>
        </p:txBody>
      </p:sp>
      <p:sp>
        <p:nvSpPr>
          <p:cNvPr id="455" name="Google Shape;455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input types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7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Providing choices</a:t>
            </a:r>
            <a:endParaRPr/>
          </a:p>
        </p:txBody>
      </p:sp>
      <p:sp>
        <p:nvSpPr>
          <p:cNvPr id="462" name="Google Shape;462;p7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elements for providing choices</a:t>
            </a:r>
            <a:endParaRPr/>
          </a:p>
        </p:txBody>
      </p:sp>
      <p:sp>
        <p:nvSpPr>
          <p:cNvPr id="469" name="Google Shape;469;p78"/>
          <p:cNvSpPr txBox="1"/>
          <p:nvPr>
            <p:ph idx="1" type="body"/>
          </p:nvPr>
        </p:nvSpPr>
        <p:spPr>
          <a:xfrm>
            <a:off x="311700" y="1076275"/>
            <a:ext cx="504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CheckBox</a:t>
            </a:r>
            <a:r>
              <a:rPr lang="en"/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RadioButton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ToggleButton</a:t>
            </a:r>
            <a:r>
              <a:rPr lang="en"/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Switch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Spinner</a:t>
            </a:r>
            <a:endParaRPr/>
          </a:p>
        </p:txBody>
      </p:sp>
      <p:sp>
        <p:nvSpPr>
          <p:cNvPr id="470" name="Google Shape;470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1" name="Google Shape;47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52225" y="1072075"/>
            <a:ext cx="1362075" cy="1038225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2" name="Google Shape;472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89013" y="1062538"/>
            <a:ext cx="1885950" cy="1057275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3" name="Google Shape;473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2225" y="2216350"/>
            <a:ext cx="2352675" cy="74295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4" name="Google Shape;474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62638" y="2850900"/>
            <a:ext cx="2295525" cy="74295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5" name="Google Shape;475;p7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83375" y="2930575"/>
            <a:ext cx="1800225" cy="156210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CheckBox</a:t>
            </a:r>
            <a:endParaRPr/>
          </a:p>
        </p:txBody>
      </p:sp>
      <p:sp>
        <p:nvSpPr>
          <p:cNvPr id="481" name="Google Shape;481;p79"/>
          <p:cNvSpPr txBox="1"/>
          <p:nvPr>
            <p:ph idx="1" type="body"/>
          </p:nvPr>
        </p:nvSpPr>
        <p:spPr>
          <a:xfrm>
            <a:off x="311700" y="1152475"/>
            <a:ext cx="8709300" cy="3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select any number of choices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Char char="●"/>
            </a:pPr>
            <a:r>
              <a:rPr lang="en"/>
              <a:t>Checking one box does not uncheck another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expect checkboxes in a vertical list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Commonly used with a </a:t>
            </a:r>
            <a:r>
              <a:rPr b="1" lang="en"/>
              <a:t>Submit</a:t>
            </a:r>
            <a:r>
              <a:rPr lang="en"/>
              <a:t> button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Every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/>
              <a:t> is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and can have </a:t>
            </a:r>
            <a:br>
              <a:rPr lang="en"/>
            </a:b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handler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3" name="Google Shape;48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870" y="2748000"/>
            <a:ext cx="2231425" cy="17008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RadioButton</a:t>
            </a:r>
            <a:endParaRPr/>
          </a:p>
        </p:txBody>
      </p:sp>
      <p:sp>
        <p:nvSpPr>
          <p:cNvPr id="489" name="Google Shape;489;p80"/>
          <p:cNvSpPr txBox="1"/>
          <p:nvPr>
            <p:ph idx="1" type="body"/>
          </p:nvPr>
        </p:nvSpPr>
        <p:spPr>
          <a:xfrm>
            <a:off x="382725" y="905200"/>
            <a:ext cx="7281300" cy="3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Put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RadioButton</a:t>
            </a:r>
            <a:r>
              <a:rPr lang="en"/>
              <a:t> elements in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RadioGroup</a:t>
            </a:r>
            <a:r>
              <a:rPr lang="en"/>
              <a:t> in a vertical list (horizontally if labels are short)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select only one of the choices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Checking one unchecks all others in group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Each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RadioButton</a:t>
            </a:r>
            <a:r>
              <a:rPr lang="en"/>
              <a:t> can have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</a:t>
            </a:r>
            <a:br>
              <a:rPr lang="en"/>
            </a:br>
            <a:r>
              <a:rPr lang="en"/>
              <a:t>handler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Commonly used with a </a:t>
            </a:r>
            <a:r>
              <a:rPr b="1" lang="en"/>
              <a:t>Submit</a:t>
            </a:r>
            <a:r>
              <a:rPr lang="en"/>
              <a:t> button</a:t>
            </a:r>
            <a:br>
              <a:rPr lang="en"/>
            </a:br>
            <a:r>
              <a:rPr lang="en"/>
              <a:t>for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RadioGroup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1" name="Google Shape;49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9825" y="3031600"/>
            <a:ext cx="2291300" cy="128455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 buttons and switches</a:t>
            </a:r>
            <a:endParaRPr/>
          </a:p>
        </p:txBody>
      </p:sp>
      <p:sp>
        <p:nvSpPr>
          <p:cNvPr id="497" name="Google Shape;497;p81"/>
          <p:cNvSpPr txBox="1"/>
          <p:nvPr>
            <p:ph idx="1" type="body"/>
          </p:nvPr>
        </p:nvSpPr>
        <p:spPr>
          <a:xfrm>
            <a:off x="311700" y="1021475"/>
            <a:ext cx="8709300" cy="3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switch between on and off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r>
              <a:rPr lang="en"/>
              <a:t> for click handler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                        </a:t>
            </a:r>
            <a:br>
              <a:rPr lang="en"/>
            </a:br>
            <a:r>
              <a:rPr lang="en"/>
              <a:t>                                     Toggle buttons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                         Switches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9" name="Google Shape;49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513" y="2511100"/>
            <a:ext cx="23526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576" y="3332125"/>
            <a:ext cx="2400575" cy="7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06" name="Google Shape;506;p82"/>
          <p:cNvSpPr txBox="1"/>
          <p:nvPr>
            <p:ph idx="1" type="body"/>
          </p:nvPr>
        </p:nvSpPr>
        <p:spPr>
          <a:xfrm>
            <a:off x="411625" y="1051425"/>
            <a:ext cx="7905600" cy="3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Input Controls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Radio Buttons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Specifying the Input Method Type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Handling Keyboard Input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Text Fields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Spinners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7" name="Google Shape;507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13" name="Google Shape;513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83"/>
          <p:cNvSpPr txBox="1"/>
          <p:nvPr/>
        </p:nvSpPr>
        <p:spPr>
          <a:xfrm>
            <a:off x="311700" y="2063725"/>
            <a:ext cx="8520600" cy="1941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4.2 Input controls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4.2 Input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20" name="Google Shape;520;p8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8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
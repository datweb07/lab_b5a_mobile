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  <p:sldMasterId id="2147483733" r:id="rId2"/>
    <p:sldMasterId id="2147483734" r:id="rId3"/>
    <p:sldMasterId id="2147483735" r:id="rId4"/>
    <p:sldMasterId id="2147483736" r:id="rId5"/>
    <p:sldMasterId id="2147483737" r:id="rId6"/>
    <p:sldMasterId id="2147483738" r:id="rId7"/>
  </p:sldMasterIdLst>
  <p:notesMasterIdLst>
    <p:notesMasterId r:id="rId6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314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68"/>
      <p:bold r:id="rId69"/>
      <p:italic r:id="rId70"/>
      <p:boldItalic r:id="rId71"/>
    </p:embeddedFont>
    <p:embeddedFont>
      <p:font typeface="Open Sans" panose="020B0606030504020204" pitchFamily="34" charset="0"/>
      <p:regular r:id="rId72"/>
      <p:bold r:id="rId73"/>
      <p:italic r:id="rId74"/>
      <p:boldItalic r:id="rId75"/>
    </p:embeddedFont>
    <p:embeddedFont>
      <p:font typeface="Roboto" panose="02000000000000000000" pitchFamily="2" charset="0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font" Target="fonts/font1.fntdata"/><Relationship Id="rId84" Type="http://schemas.microsoft.com/office/2016/11/relationships/changesInfo" Target="changesInfos/changesInfo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5.fntdata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font" Target="fonts/font9.fntdata"/><Relationship Id="rId7" Type="http://schemas.openxmlformats.org/officeDocument/2006/relationships/slideMaster" Target="slideMasters/slideMaster7.xml"/><Relationship Id="rId71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Ngoc Hoang Thanh" userId="13e7a03477e24249" providerId="LiveId" clId="{3E99F1F8-600F-E547-B079-3E36B8940322}"/>
    <pc:docChg chg="undo custSel addSld modSld">
      <pc:chgData name="Dang Ngoc Hoang Thanh" userId="13e7a03477e24249" providerId="LiveId" clId="{3E99F1F8-600F-E547-B079-3E36B8940322}" dt="2024-10-28T04:08:53.306" v="98" actId="20577"/>
      <pc:docMkLst>
        <pc:docMk/>
      </pc:docMkLst>
      <pc:sldChg chg="modSp mod">
        <pc:chgData name="Dang Ngoc Hoang Thanh" userId="13e7a03477e24249" providerId="LiveId" clId="{3E99F1F8-600F-E547-B079-3E36B8940322}" dt="2024-10-28T04:00:09.861" v="12" actId="20577"/>
        <pc:sldMkLst>
          <pc:docMk/>
          <pc:sldMk cId="0" sldId="262"/>
        </pc:sldMkLst>
        <pc:spChg chg="mod">
          <ac:chgData name="Dang Ngoc Hoang Thanh" userId="13e7a03477e24249" providerId="LiveId" clId="{3E99F1F8-600F-E547-B079-3E36B8940322}" dt="2024-10-28T04:00:09.861" v="12" actId="20577"/>
          <ac:spMkLst>
            <pc:docMk/>
            <pc:sldMk cId="0" sldId="262"/>
            <ac:spMk id="525" creationId="{00000000-0000-0000-0000-000000000000}"/>
          </ac:spMkLst>
        </pc:spChg>
      </pc:sldChg>
      <pc:sldChg chg="modSp mod">
        <pc:chgData name="Dang Ngoc Hoang Thanh" userId="13e7a03477e24249" providerId="LiveId" clId="{3E99F1F8-600F-E547-B079-3E36B8940322}" dt="2024-10-28T04:01:35.519" v="32" actId="20577"/>
        <pc:sldMkLst>
          <pc:docMk/>
          <pc:sldMk cId="0" sldId="267"/>
        </pc:sldMkLst>
        <pc:spChg chg="mod">
          <ac:chgData name="Dang Ngoc Hoang Thanh" userId="13e7a03477e24249" providerId="LiveId" clId="{3E99F1F8-600F-E547-B079-3E36B8940322}" dt="2024-10-28T04:01:35.519" v="32" actId="20577"/>
          <ac:spMkLst>
            <pc:docMk/>
            <pc:sldMk cId="0" sldId="267"/>
            <ac:spMk id="570" creationId="{00000000-0000-0000-0000-000000000000}"/>
          </ac:spMkLst>
        </pc:spChg>
      </pc:sldChg>
      <pc:sldChg chg="modSp add mod">
        <pc:chgData name="Dang Ngoc Hoang Thanh" userId="13e7a03477e24249" providerId="LiveId" clId="{3E99F1F8-600F-E547-B079-3E36B8940322}" dt="2024-10-28T04:08:53.306" v="98" actId="20577"/>
        <pc:sldMkLst>
          <pc:docMk/>
          <pc:sldMk cId="2476951010" sldId="314"/>
        </pc:sldMkLst>
        <pc:spChg chg="mod">
          <ac:chgData name="Dang Ngoc Hoang Thanh" userId="13e7a03477e24249" providerId="LiveId" clId="{3E99F1F8-600F-E547-B079-3E36B8940322}" dt="2024-10-28T04:08:53.306" v="98" actId="20577"/>
          <ac:spMkLst>
            <pc:docMk/>
            <pc:sldMk cId="2476951010" sldId="314"/>
            <ac:spMk id="575" creationId="{A9E3ABF8-74C4-2FDC-322F-4F58E6B9815B}"/>
          </ac:spMkLst>
        </pc:spChg>
        <pc:spChg chg="mod">
          <ac:chgData name="Dang Ngoc Hoang Thanh" userId="13e7a03477e24249" providerId="LiveId" clId="{3E99F1F8-600F-E547-B079-3E36B8940322}" dt="2024-10-28T04:07:44.790" v="97" actId="20577"/>
          <ac:spMkLst>
            <pc:docMk/>
            <pc:sldMk cId="2476951010" sldId="314"/>
            <ac:spMk id="577" creationId="{C27FC306-0CFF-9107-7719-17A7674873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lertDialog.html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veloper.android.com/reference/android/app/Dialog.html" TargetMode="Externa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lertDialog.Builder.html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eveloper.android.com/reference/android/app/AlertDialog.Builder.html#setMessage(int)" TargetMode="External"/><Relationship Id="rId4" Type="http://schemas.openxmlformats.org/officeDocument/2006/relationships/hyperlink" Target="https://developer.android.com/reference/android/app/AlertDialog.Builder.html#setTitle(int)" TargetMode="Externa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lertDialog.Builder.html#setPositiveButton(int,%20android.content.DialogInterface.OnClickListener)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veloper.android.com/reference/android/app/AlertDialog.Builder.html#setNeutralButton(int,%20android.content.DialogInterface.OnClickListener)" TargetMode="External"/><Relationship Id="rId5" Type="http://schemas.openxmlformats.org/officeDocument/2006/relationships/hyperlink" Target="https://developer.android.com/reference/android/content/DialogInterface.OnClickListener.html" TargetMode="External"/><Relationship Id="rId4" Type="http://schemas.openxmlformats.org/officeDocument/2006/relationships/hyperlink" Target="https://developer.android.com/reference/android/app/AlertDialog.Builder.html#setNegativeButton(int,%20android.content.DialogInterface.OnClickListener)" TargetMode="Externa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c6e85b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5c6e85b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470ef2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470ef2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06e2ef6b2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06e2ef6b2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c6e85b7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c6e85b73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06e2ef6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06e2ef6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8b875b26d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8b875b26d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5c6e85b7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15c6e85b7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5c6e85b7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5c6e85b7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8b875b26d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8b875b26d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5c6e85b7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5c6e85b7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c6e85b73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c6e85b73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5c6e85b7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5c6e85b7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F1CF41F9-9946-9BAA-EA3C-7A33E444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5c6e85b73_0_232:notes">
            <a:extLst>
              <a:ext uri="{FF2B5EF4-FFF2-40B4-BE49-F238E27FC236}">
                <a16:creationId xmlns:a16="http://schemas.microsoft.com/office/drawing/2014/main" id="{D7F72330-0B02-878E-BA78-041273B73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5c6e85b73_0_232:notes">
            <a:extLst>
              <a:ext uri="{FF2B5EF4-FFF2-40B4-BE49-F238E27FC236}">
                <a16:creationId xmlns:a16="http://schemas.microsoft.com/office/drawing/2014/main" id="{E8FBCBA3-D9C1-D6A4-4562-E98E65633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616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5ca91b8eb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5ca91b8eb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5ca91b8eb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5ca91b8eb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5ca91b8eb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5ca91b8eb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8b875b26d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8b875b26d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5ca91b8eb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15ca91b8eb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5ca91b8eb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5ca91b8eb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8b875b26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8b875b26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5ca91b8eb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5ca91b8eb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5ca91b8eb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5ca91b8eb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8470ef2fa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18470ef2fa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5ca91b8eb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5ca91b8eb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5ca91b8eb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5ca91b8eb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8b875b26d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8b875b26d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5c7acae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5c7acae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855b3481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1855b3481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8470ef2fa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8470ef2fa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5c7acaee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5c7acaee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5c7acaee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5c7acaee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8470ef2fa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8470ef2fa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5c7acaee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5c7acaee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8470ef2fa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8470ef2fa_1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5c7acaee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5c7acaee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18470ef2fa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18470ef2fa_1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8b875b26d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8b875b26d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5c7acaee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15c7acaee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5c7acaee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5c7acaee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5c7acaee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5c7acaee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5c7acaee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5c7acaee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5c7acaee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5c7acaee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15c7acaee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15c7acaee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06e2ef6b2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06e2ef6b2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06e2ef6b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06e2ef6b2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06e2ef6b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06e2ef6b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Alerts are urgent interruptions, requiring acknowledgement, that inform the user about a situation as it occurs, or an action </a:t>
            </a:r>
            <a:r>
              <a:rPr lang="en" i="1">
                <a:solidFill>
                  <a:schemeClr val="dk1"/>
                </a:solidFill>
              </a:rPr>
              <a:t>before</a:t>
            </a:r>
            <a:r>
              <a:rPr lang="en">
                <a:solidFill>
                  <a:schemeClr val="dk1"/>
                </a:solidFill>
              </a:rPr>
              <a:t> it occurs (as in discarding a draft). You can provide buttons in an alert to make a decision. For example, an alert dialog might require the user to click </a:t>
            </a:r>
            <a:r>
              <a:rPr lang="en" b="1">
                <a:solidFill>
                  <a:schemeClr val="dk1"/>
                </a:solidFill>
              </a:rPr>
              <a:t>Continue</a:t>
            </a:r>
            <a:r>
              <a:rPr lang="en">
                <a:solidFill>
                  <a:schemeClr val="dk1"/>
                </a:solidFill>
              </a:rPr>
              <a:t> after reading it, or give the user a choice to agree with an action by clicking a positive button (such as </a:t>
            </a:r>
            <a:r>
              <a:rPr lang="en" b="1">
                <a:solidFill>
                  <a:schemeClr val="dk1"/>
                </a:solidFill>
              </a:rPr>
              <a:t>OK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chemeClr val="dk1"/>
                </a:solidFill>
              </a:rPr>
              <a:t>Accept</a:t>
            </a:r>
            <a:r>
              <a:rPr lang="en">
                <a:solidFill>
                  <a:schemeClr val="dk1"/>
                </a:solidFill>
              </a:rPr>
              <a:t>), or to disagree by clicking a negative button (such as </a:t>
            </a:r>
            <a:r>
              <a:rPr lang="en" b="1">
                <a:solidFill>
                  <a:schemeClr val="dk1"/>
                </a:solidFill>
              </a:rPr>
              <a:t>Cancel</a:t>
            </a:r>
            <a:r>
              <a:rPr lang="en">
                <a:solidFill>
                  <a:schemeClr val="dk1"/>
                </a:solidFill>
              </a:rPr>
              <a:t>).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AlertDialog</a:t>
            </a:r>
            <a:r>
              <a:rPr lang="en">
                <a:solidFill>
                  <a:schemeClr val="dk1"/>
                </a:solidFill>
              </a:rPr>
              <a:t> subclass of the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Dialog</a:t>
            </a:r>
            <a:r>
              <a:rPr lang="en">
                <a:solidFill>
                  <a:schemeClr val="dk1"/>
                </a:solidFill>
              </a:rPr>
              <a:t> class to show a standard dialog for an alert. The AlertDialog class allows you to build a variety of dialog designs. An alert dialog can have the following regions (refer to the diagram below):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Title: A title is optional. Most alerts don’t need titles. If you can summarize a decision in a sentence or two by either asking a question (such as, “Discard draft?”) or making a statement related to the action buttons (such as, “Click OK to continue”), don’t bother with a title. Use a title if the situation is high-risk, such as the potential loss of connectivity, and the content area is occupied by a detailed message, a list, or custom layout.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Content area: The content area can display a message, a list, or other custom layout.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Action buttons: You should use no more than three action buttons in a dialog, and most have only two.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06e2ef6b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06e2ef6b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class provides the </a:t>
            </a:r>
            <a:r>
              <a:rPr lang="en" i="1">
                <a:solidFill>
                  <a:schemeClr val="dk1"/>
                </a:solidFill>
              </a:rPr>
              <a:t>builder</a:t>
            </a:r>
            <a:r>
              <a:rPr lang="en">
                <a:solidFill>
                  <a:schemeClr val="dk1"/>
                </a:solidFill>
              </a:rPr>
              <a:t> design pattern, which makes it easy to create an object from a class that has a lot of required and optional attributes and would therefore require a lot of parameters to build. Without this pattern, you would have to create constructors for combinations of required and optional attributes; with this pattern, the code is easier to read and maintain.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to build a standard alert dialog and set attributes on the dialog. Use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setTitle()</a:t>
            </a:r>
            <a:r>
              <a:rPr lang="en">
                <a:solidFill>
                  <a:schemeClr val="dk1"/>
                </a:solidFill>
              </a:rPr>
              <a:t> to set its title and </a:t>
            </a:r>
            <a:r>
              <a:rPr lang="en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setMessage()</a:t>
            </a:r>
            <a:r>
              <a:rPr lang="en">
                <a:solidFill>
                  <a:schemeClr val="dk1"/>
                </a:solidFill>
              </a:rPr>
              <a:t> to set its message.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If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>
                <a:solidFill>
                  <a:schemeClr val="dk1"/>
                </a:solidFill>
              </a:rPr>
              <a:t> is not recognized as you enter it, you may need to add the following import statements to MainActivity.java: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android.content.DialogInterface;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android.app.AlertDialog;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following creates the dialog object and sets the title (the string resource called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alert_title</a:t>
            </a:r>
            <a:r>
              <a:rPr lang="en">
                <a:solidFill>
                  <a:schemeClr val="dk1"/>
                </a:solidFill>
              </a:rPr>
              <a:t>) and message (the string resource called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alert_message</a:t>
            </a:r>
            <a:r>
              <a:rPr lang="en">
                <a:solidFill>
                  <a:schemeClr val="dk1"/>
                </a:solidFill>
              </a:rPr>
              <a:t>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onClickShowAlert(View view) {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Build the alert dialog.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AlertDialog.Builder alertDialog = new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AlertDialog.Builder(MainActivity.this);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Set the dialog title.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alertDialog.setTitle("Connect to Provider");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Set the dialog message.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alertDialog.setMessage(R.string.alert_message);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06e2ef6b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06e2ef6b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the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setPositiveButton()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setNegativeButton()</a:t>
            </a:r>
            <a:r>
              <a:rPr lang="en">
                <a:solidFill>
                  <a:schemeClr val="dk1"/>
                </a:solidFill>
              </a:rPr>
              <a:t> methods of the AlertDialog.Builder class to set the button actions for the alert dialog. These methods require a title for the button (supplied by a string resource) and the </a:t>
            </a:r>
            <a:r>
              <a:rPr lang="en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DialogInterface.OnClickListener</a:t>
            </a:r>
            <a:r>
              <a:rPr lang="en">
                <a:solidFill>
                  <a:schemeClr val="dk1"/>
                </a:solidFill>
              </a:rPr>
              <a:t> class that defines the action to take when the user presses the button: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add only one of each button type to an AlertDialog. For example, you can’t have more than one “positive” button.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also set a “neutral” button with </a:t>
            </a:r>
            <a:r>
              <a:rPr lang="en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setNeutralButton()</a:t>
            </a:r>
            <a:r>
              <a:rPr lang="en">
                <a:solidFill>
                  <a:schemeClr val="dk1"/>
                </a:solidFill>
              </a:rPr>
              <a:t>. The neutral button appears between the positive and negative buttons. Use a neutral button, such as “Remind me later”, if you want the user to be able to dismiss the dialog and decide later.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06e2ef6b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06e2ef6b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6e2ef6b2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06e2ef6b2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06e2ef6b2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06e2ef6b2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06e2ef6b2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06e2ef6b2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06e2ef6b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06e2ef6b2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06e2ef6b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06e2ef6b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06e2ef6b2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06e2ef6b2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06e2ef6b2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06e2ef6b2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8470ef2f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8470ef2f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8470ef2f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8470ef2f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/4.0/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hyperlink" Target="http://creativecommons.org/licenses/by-nc/4.0/" TargetMode="Externa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7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3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01"/>
            <a:ext cx="4045200" cy="10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descr="Android-spli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1" name="Google Shape;131;p25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2229275" y="4761375"/>
            <a:ext cx="2350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580075" y="4675350"/>
            <a:ext cx="1191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8" name="Google Shape;218;p41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9" name="Google Shape;219;p4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2" name="Google Shape;222;p4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7" name="Google Shape;227;p4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0" name="Google Shape;230;p44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1" name="Google Shape;231;p4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0" name="Google Shape;240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1" name="Google Shape;241;p4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4" name="Google Shape;244;p4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8" name="Google Shape;248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9" name="Google Shape;249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4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9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253" name="Google Shape;253;p4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6" name="Google Shape;256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5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1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51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5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51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5" name="Google Shape;265;p51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6" name="Google Shape;266;p51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68" name="Google Shape;26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2" name="Google Shape;282;p54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5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6" name="Google Shape;286;p5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5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5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91" name="Google Shape;291;p5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4" name="Google Shape;294;p57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5" name="Google Shape;295;p5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4" name="Google Shape;304;p5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5" name="Google Shape;305;p5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8" name="Google Shape;308;p6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6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2" name="Google Shape;312;p6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3" name="Google Shape;313;p6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6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2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17" name="Google Shape;317;p6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6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6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64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6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64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64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64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8" name="Google Shape;328;p64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329" name="Google Shape;329;p64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4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7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6" name="Google Shape;346;p67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7" name="Google Shape;347;p6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8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0" name="Google Shape;350;p6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6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6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55" name="Google Shape;355;p6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0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8" name="Google Shape;358;p70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9" name="Google Shape;359;p7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7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8" name="Google Shape;368;p7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9" name="Google Shape;369;p7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2" name="Google Shape;372;p7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74" descr="Android-spli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7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6" name="Google Shape;376;p7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7" name="Google Shape;377;p7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7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7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5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82" name="Google Shape;382;p7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5" name="Google Shape;385;p7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7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77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77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77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2" name="Google Shape;392;p77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3" name="Google Shape;393;p77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394" name="Google Shape;394;p77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7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77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7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8" name="Google Shape;398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0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3" name="Google Shape;413;p80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4" name="Google Shape;414;p8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1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7" name="Google Shape;417;p8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8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8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22" name="Google Shape;422;p82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3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5" name="Google Shape;425;p83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6" name="Google Shape;426;p8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8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8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8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8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5" name="Google Shape;435;p8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6" name="Google Shape;436;p8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9" name="Google Shape;439;p8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7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8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3" name="Google Shape;443;p8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4" name="Google Shape;444;p8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p8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8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48" name="Google Shape;448;p8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1" name="Google Shape;451;p8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2" name="Google Shape;452;p8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90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90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90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9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8" name="Google Shape;458;p90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90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0" name="Google Shape;460;p90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1" name="Google Shape;461;p90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90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63" name="Google Shape;46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9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90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9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364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593275" y="4675350"/>
            <a:ext cx="1101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229275" y="4761375"/>
            <a:ext cx="2350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483425" y="4751550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305475" y="4761375"/>
            <a:ext cx="24498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4834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0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2305474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4407225" y="4694147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3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7" name="Google Shape;277;p5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3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66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8" name="Google Shape;338;p6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6"/>
          <p:cNvSpPr txBox="1"/>
          <p:nvPr/>
        </p:nvSpPr>
        <p:spPr>
          <a:xfrm>
            <a:off x="2229275" y="4761375"/>
            <a:ext cx="22977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66"/>
          <p:cNvSpPr txBox="1"/>
          <p:nvPr/>
        </p:nvSpPr>
        <p:spPr>
          <a:xfrm>
            <a:off x="4606350" y="4663650"/>
            <a:ext cx="1088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 b="1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3" name="Google Shape;343;p6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79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05" name="Google Shape;405;p7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7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79"/>
          <p:cNvSpPr txBox="1"/>
          <p:nvPr/>
        </p:nvSpPr>
        <p:spPr>
          <a:xfrm>
            <a:off x="2229274" y="4761375"/>
            <a:ext cx="22977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79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79"/>
          <p:cNvSpPr txBox="1"/>
          <p:nvPr/>
        </p:nvSpPr>
        <p:spPr>
          <a:xfrm>
            <a:off x="4619575" y="4663650"/>
            <a:ext cx="1075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Menus and pickers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0" name="Google Shape;410;p7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view/View.OnCreateContextMenuListener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view/ActionMode.Callback.html#onActionItemClicked(android.view.ActionMode,%20android.view.MenuItem)" TargetMode="External"/><Relationship Id="rId3" Type="http://schemas.openxmlformats.org/officeDocument/2006/relationships/hyperlink" Target="https://developer.android.com/reference/android/app/Activity.html#startActionMode(android.view.ActionMode.Callback)" TargetMode="External"/><Relationship Id="rId7" Type="http://schemas.openxmlformats.org/officeDocument/2006/relationships/hyperlink" Target="https://developer.android.com/reference/android/view/ActionMode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android.com/reference/android/view/ActionMode.Callback.html#onPrepareActionMode(android.view.ActionMode,%20android.view.Menu)" TargetMode="External"/><Relationship Id="rId5" Type="http://schemas.openxmlformats.org/officeDocument/2006/relationships/hyperlink" Target="https://developer.android.com/reference/android/view/ActionMode.Callback.html#onCreateActionMode(android.view.ActionMode,%20android.view.Menu)" TargetMode="External"/><Relationship Id="rId4" Type="http://schemas.openxmlformats.org/officeDocument/2006/relationships/hyperlink" Target="https://developer.android.com/reference/android/view/ActionMode.Callback.html" TargetMode="External"/><Relationship Id="rId9" Type="http://schemas.openxmlformats.org/officeDocument/2006/relationships/hyperlink" Target="https://developer.android.com/reference/android/view/ActionMode.Callback.html#onDestroyActionMode(android.view.ActionMode)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app/AlertDialog.html" TargetMode="External"/><Relationship Id="rId3" Type="http://schemas.openxmlformats.org/officeDocument/2006/relationships/hyperlink" Target="https://developer.android.com/reference/android/app/DatePickerDialog.html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1.png"/><Relationship Id="rId5" Type="http://schemas.openxmlformats.org/officeDocument/2006/relationships/hyperlink" Target="https://developer.android.com/reference/android/app/Dialog.html" TargetMode="External"/><Relationship Id="rId4" Type="http://schemas.openxmlformats.org/officeDocument/2006/relationships/hyperlink" Target="https://developer.android.com/reference/android/app/TimePickerDialog.html" TargetMode="External"/><Relationship Id="rId9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lertDialog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DatePickerDialog.html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23.png"/><Relationship Id="rId4" Type="http://schemas.openxmlformats.org/officeDocument/2006/relationships/hyperlink" Target="https://developer.android.com/reference/android/app/TimePickerDialog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4/app/DialogFragment.html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guide/components/fragments.html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://developer.android.com/guide/topics/ui/controls/pickers.html" TargetMode="External"/><Relationship Id="rId3" Type="http://schemas.openxmlformats.org/officeDocument/2006/relationships/hyperlink" Target="https://developer.android.com/training/appbar/index.html" TargetMode="External"/><Relationship Id="rId7" Type="http://schemas.openxmlformats.org/officeDocument/2006/relationships/hyperlink" Target="https://developer.android.com/guide/topics/ui/dialogs.html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5.xml"/><Relationship Id="rId6" Type="http://schemas.openxmlformats.org/officeDocument/2006/relationships/hyperlink" Target="http://developer.android.com/guide/components/fragments.html" TargetMode="External"/><Relationship Id="rId5" Type="http://schemas.openxmlformats.org/officeDocument/2006/relationships/hyperlink" Target="https://developer.android.com/guide/topics/resources/menu-resource.html" TargetMode="External"/><Relationship Id="rId4" Type="http://schemas.openxmlformats.org/officeDocument/2006/relationships/hyperlink" Target="https://developer.android.com/guide/topics/ui/menus.html" TargetMode="External"/><Relationship Id="rId9" Type="http://schemas.openxmlformats.org/officeDocument/2006/relationships/hyperlink" Target="https://developer.android.com/guide/topics/resources/drawable-resource.html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-training.github.io/android-developer-fundamentals-course-concepts-v2/unit-2-user-experience/lesson-4-user-interaction/4-3-c-menus-and-pickers/4-3-c-menus-and-pickers.html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9.xml"/><Relationship Id="rId4" Type="http://schemas.openxmlformats.org/officeDocument/2006/relationships/hyperlink" Target="https://codelabs.developers.google.com/codelabs/android-training-menus-and-pickers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473" name="Google Shape;473;p9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474" name="Google Shape;474;p92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475" name="Google Shape;475;p92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76" name="Google Shape;476;p9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92"/>
          <p:cNvSpPr txBox="1"/>
          <p:nvPr/>
        </p:nvSpPr>
        <p:spPr>
          <a:xfrm>
            <a:off x="265500" y="1626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sz="4200" b="1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3"/>
          <p:cNvSpPr txBox="1">
            <a:spLocks noGrp="1"/>
          </p:cNvSpPr>
          <p:nvPr>
            <p:ph type="ctrTitle"/>
          </p:nvPr>
        </p:nvSpPr>
        <p:spPr>
          <a:xfrm>
            <a:off x="311700" y="19509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4.3 Menus and pickers</a:t>
            </a:r>
            <a:endParaRPr/>
          </a:p>
        </p:txBody>
      </p:sp>
      <p:sp>
        <p:nvSpPr>
          <p:cNvPr id="483" name="Google Shape;483;p9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9" name="Google Shape;489;p94"/>
          <p:cNvSpPr txBox="1">
            <a:spLocks noGrp="1"/>
          </p:cNvSpPr>
          <p:nvPr>
            <p:ph type="body" idx="1"/>
          </p:nvPr>
        </p:nvSpPr>
        <p:spPr>
          <a:xfrm>
            <a:off x="311700" y="1075400"/>
            <a:ext cx="8398800" cy="33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Overview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Bar with Options Menu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Contextual menus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Popup menus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Dialogs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Pickers</a:t>
            </a:r>
            <a:endParaRPr/>
          </a:p>
        </p:txBody>
      </p:sp>
      <p:sp>
        <p:nvSpPr>
          <p:cNvPr id="490" name="Google Shape;490;p9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96" name="Google Shape;496;p9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9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98" name="Google Shape;498;p9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225" y="1699200"/>
            <a:ext cx="5094850" cy="26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96"/>
          <p:cNvSpPr txBox="1">
            <a:spLocks noGrp="1"/>
          </p:cNvSpPr>
          <p:nvPr>
            <p:ph type="body" idx="1"/>
          </p:nvPr>
        </p:nvSpPr>
        <p:spPr>
          <a:xfrm>
            <a:off x="311700" y="1113675"/>
            <a:ext cx="3803100" cy="3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 bar with options menu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 menu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Contextual action bar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Popup menu</a:t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505" name="Google Shape;505;p9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Menus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6" name="Google Shape;506;p9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725" y="994391"/>
            <a:ext cx="5949850" cy="3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9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 and pickers</a:t>
            </a:r>
            <a:endParaRPr/>
          </a:p>
        </p:txBody>
      </p:sp>
      <p:sp>
        <p:nvSpPr>
          <p:cNvPr id="513" name="Google Shape;513;p9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14" name="Google Shape;514;p97"/>
          <p:cNvSpPr/>
          <p:nvPr/>
        </p:nvSpPr>
        <p:spPr>
          <a:xfrm>
            <a:off x="3756800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5" name="Google Shape;515;p97"/>
          <p:cNvCxnSpPr>
            <a:endCxn id="514" idx="0"/>
          </p:cNvCxnSpPr>
          <p:nvPr/>
        </p:nvCxnSpPr>
        <p:spPr>
          <a:xfrm>
            <a:off x="3942500" y="3456840"/>
            <a:ext cx="0" cy="642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6" name="Google Shape;516;p97"/>
          <p:cNvSpPr/>
          <p:nvPr/>
        </p:nvSpPr>
        <p:spPr>
          <a:xfrm>
            <a:off x="5665925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7" name="Google Shape;517;p97"/>
          <p:cNvCxnSpPr>
            <a:endCxn id="516" idx="0"/>
          </p:cNvCxnSpPr>
          <p:nvPr/>
        </p:nvCxnSpPr>
        <p:spPr>
          <a:xfrm>
            <a:off x="5851625" y="3947940"/>
            <a:ext cx="0" cy="1512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97"/>
          <p:cNvSpPr/>
          <p:nvPr/>
        </p:nvSpPr>
        <p:spPr>
          <a:xfrm>
            <a:off x="7575050" y="4099140"/>
            <a:ext cx="371400" cy="3714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9" name="Google Shape;519;p97"/>
          <p:cNvCxnSpPr>
            <a:endCxn id="518" idx="0"/>
          </p:cNvCxnSpPr>
          <p:nvPr/>
        </p:nvCxnSpPr>
        <p:spPr>
          <a:xfrm>
            <a:off x="7760750" y="3456840"/>
            <a:ext cx="0" cy="642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0" name="Google Shape;520;p97"/>
          <p:cNvSpPr txBox="1">
            <a:spLocks noGrp="1"/>
          </p:cNvSpPr>
          <p:nvPr>
            <p:ph type="body" idx="1"/>
          </p:nvPr>
        </p:nvSpPr>
        <p:spPr>
          <a:xfrm>
            <a:off x="311700" y="1113675"/>
            <a:ext cx="3803100" cy="3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Alert dialog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Date picker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Time picker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 Bar (Toolbar) with Options Menu</a:t>
            </a:r>
            <a:endParaRPr dirty="0"/>
          </a:p>
        </p:txBody>
      </p:sp>
      <p:sp>
        <p:nvSpPr>
          <p:cNvPr id="526" name="Google Shape;526;p9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528" name="Google Shape;528;p9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9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App Bar?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4" name="Google Shape;534;p9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35" name="Google Shape;535;p9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Bar at top of each screen—same for all devices (usually)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Nav icon to open navigation drawer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Title of current Activity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Icons for options menu items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Action overflow button for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the rest of the options menu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  <p:pic>
        <p:nvPicPr>
          <p:cNvPr id="536" name="Google Shape;53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500" y="2539775"/>
            <a:ext cx="36290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0"/>
          <p:cNvSpPr txBox="1">
            <a:spLocks noGrp="1"/>
          </p:cNvSpPr>
          <p:nvPr>
            <p:ph type="body" idx="1"/>
          </p:nvPr>
        </p:nvSpPr>
        <p:spPr>
          <a:xfrm>
            <a:off x="217200" y="2710188"/>
            <a:ext cx="8709600" cy="20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Appears in the right corner of the app bar (3)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navigating to other activities and editing app settings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sp>
        <p:nvSpPr>
          <p:cNvPr id="542" name="Google Shape;542;p100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options menu?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10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544" name="Google Shape;5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650" y="1354434"/>
            <a:ext cx="4290500" cy="1351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100" descr="one-finger-tap-outlined-symbol-of-a-hand_318-715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225" y="2339593"/>
            <a:ext cx="289325" cy="2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00"/>
          <p:cNvSpPr/>
          <p:nvPr/>
        </p:nvSpPr>
        <p:spPr>
          <a:xfrm>
            <a:off x="6791075" y="2083325"/>
            <a:ext cx="965100" cy="20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00"/>
          <p:cNvSpPr txBox="1">
            <a:spLocks noGrp="1"/>
          </p:cNvSpPr>
          <p:nvPr>
            <p:ph type="body" idx="1"/>
          </p:nvPr>
        </p:nvSpPr>
        <p:spPr>
          <a:xfrm>
            <a:off x="217200" y="972150"/>
            <a:ext cx="4513500" cy="17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 icons in the app bar for important items (1)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Tap the three dots, the "action overflow button" to see the options menu (2)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0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Options Menu</a:t>
            </a:r>
            <a:endParaRPr/>
          </a:p>
        </p:txBody>
      </p:sp>
      <p:sp>
        <p:nvSpPr>
          <p:cNvPr id="553" name="Google Shape;553;p10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0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55" name="Google Shape;555;p10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to implement options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1" name="Google Shape;561;p10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562" name="Google Shape;562;p10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XML menu resource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onCreateOptionsMenu()</a:t>
            </a:r>
            <a:r>
              <a:rPr lang="en">
                <a:solidFill>
                  <a:schemeClr val="dk1"/>
                </a:solidFill>
              </a:rPr>
              <a:t> to inflate the menu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>
                <a:solidFill>
                  <a:schemeClr val="dk1"/>
                </a:solidFill>
              </a:rPr>
              <a:t> attribute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onOptionsItemSelected()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Method to handle item click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3" name="Google Shape;56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738" y="2977500"/>
            <a:ext cx="6507625" cy="15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0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" name="Google Shape;569;p10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570" name="Google Shape;570;p10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menu resource directory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XML menu resource (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menu_main.xml</a:t>
            </a:r>
            <a:r>
              <a:rPr lang="en" dirty="0">
                <a:solidFill>
                  <a:schemeClr val="dk1"/>
                </a:solidFill>
              </a:rPr>
              <a:t>) 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entry for each menu item (</a:t>
            </a:r>
            <a:r>
              <a:rPr lang="en" b="1" dirty="0">
                <a:solidFill>
                  <a:schemeClr val="dk1"/>
                </a:solidFill>
              </a:rPr>
              <a:t>Settings</a:t>
            </a:r>
            <a:r>
              <a:rPr lang="en" dirty="0">
                <a:solidFill>
                  <a:schemeClr val="dk1"/>
                </a:solidFill>
              </a:rPr>
              <a:t> and </a:t>
            </a:r>
            <a:r>
              <a:rPr lang="en" b="1" dirty="0">
                <a:solidFill>
                  <a:schemeClr val="dk1"/>
                </a:solidFill>
              </a:rPr>
              <a:t>Favorites</a:t>
            </a:r>
            <a:r>
              <a:rPr lang="en" dirty="0">
                <a:solidFill>
                  <a:schemeClr val="dk1"/>
                </a:solidFill>
              </a:rPr>
              <a:t>):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&lt;menu&gt;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&lt;item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="@+id/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option_settings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android:title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="Settings" /&gt;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&lt;item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="@+id/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option_favorites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android:title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="Favorites" /&gt;</a:t>
            </a: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&lt;/menu&gt;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Inflate options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6" name="Google Shape;576;p10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577" name="Google Shape;577;p10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Override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dirty="0">
                <a:solidFill>
                  <a:schemeClr val="dk1"/>
                </a:solidFill>
              </a:rPr>
              <a:t> in Activity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onCreateOptionsMenu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(Menu menu)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getMenuInflater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().inflate(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R.menu.menu_main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menu);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A811616A-77F1-9E3A-1D88-4BC66F7C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4">
            <a:extLst>
              <a:ext uri="{FF2B5EF4-FFF2-40B4-BE49-F238E27FC236}">
                <a16:creationId xmlns:a16="http://schemas.microsoft.com/office/drawing/2014/main" id="{A9E3ABF8-74C4-2FDC-322F-4F58E6B98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App bar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76" name="Google Shape;576;p104">
            <a:extLst>
              <a:ext uri="{FF2B5EF4-FFF2-40B4-BE49-F238E27FC236}">
                <a16:creationId xmlns:a16="http://schemas.microsoft.com/office/drawing/2014/main" id="{30ED103A-C7C9-CAC9-E805-8907287879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577" name="Google Shape;577;p104">
            <a:extLst>
              <a:ext uri="{FF2B5EF4-FFF2-40B4-BE49-F238E27FC236}">
                <a16:creationId xmlns:a16="http://schemas.microsoft.com/office/drawing/2014/main" id="{C27FC306-0CFF-9107-7719-17A767487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076275"/>
            <a:ext cx="872893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protected void </a:t>
            </a:r>
            <a:r>
              <a:rPr lang="en-US" sz="1800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onCreate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Bundle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savedInstanceState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.onCreate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savedInstanceState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EdgeToEdge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enable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setContentView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activity_main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ViewCompat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setOnApplyWindowInsetsListener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</a:p>
          <a:p>
            <a:pPr marL="76200" indent="0" algn="r">
              <a:buNone/>
            </a:pP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findViewById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 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insets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{…});</a:t>
            </a:r>
            <a:b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setSupportActionBar</a:t>
            </a:r>
            <a:r>
              <a:rPr lang="en-US" sz="18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MaterialToolbar</a:t>
            </a:r>
            <a:r>
              <a:rPr lang="en-US" sz="18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findViewById</a:t>
            </a:r>
            <a:r>
              <a:rPr lang="en-US" sz="18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1800" dirty="0" err="1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1800" dirty="0" err="1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toolbar</a:t>
            </a:r>
            <a:r>
              <a:rPr lang="en-US" sz="1800" dirty="0"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lang="en-US" sz="1800" dirty="0">
              <a:solidFill>
                <a:srgbClr val="080808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6200" indent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695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icons for menu items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3" name="Google Shape;583;p10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584" name="Google Shape;584;p10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655300" cy="39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Right-click </a:t>
            </a:r>
            <a:r>
              <a:rPr lang="en" b="1">
                <a:solidFill>
                  <a:schemeClr val="dk1"/>
                </a:solidFill>
              </a:rPr>
              <a:t>drawable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Choose </a:t>
            </a:r>
            <a:r>
              <a:rPr lang="en" b="1">
                <a:solidFill>
                  <a:schemeClr val="dk1"/>
                </a:solidFill>
              </a:rPr>
              <a:t>New &gt; Image Asset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Choose </a:t>
            </a:r>
            <a:r>
              <a:rPr lang="en" b="1">
                <a:solidFill>
                  <a:schemeClr val="dk1"/>
                </a:solidFill>
              </a:rPr>
              <a:t>Action Bar and Tab Items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Edit the icon name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Click clipart image, and click icon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Click </a:t>
            </a:r>
            <a:r>
              <a:rPr lang="en" b="1">
                <a:solidFill>
                  <a:schemeClr val="dk1"/>
                </a:solidFill>
              </a:rPr>
              <a:t>Next</a:t>
            </a:r>
            <a:r>
              <a:rPr lang="en">
                <a:solidFill>
                  <a:schemeClr val="dk1"/>
                </a:solidFill>
              </a:rPr>
              <a:t>, then </a:t>
            </a:r>
            <a:r>
              <a:rPr lang="en" b="1">
                <a:solidFill>
                  <a:schemeClr val="dk1"/>
                </a:solidFill>
              </a:rPr>
              <a:t>Finish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pic>
        <p:nvPicPr>
          <p:cNvPr id="585" name="Google Shape;58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100" y="1127850"/>
            <a:ext cx="2947050" cy="27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menu item attributes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1" name="Google Shape;591;p10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592" name="Google Shape;592;p10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9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android:id="@+id/action_favorites"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android:icon="@drawable/ic_favorite"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android:orderInCategory="30"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android:title="@string/action_favorites"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app:showAsAction="ifRoom" /&gt;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7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Override onOptionsItemSelected()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8" name="Google Shape;598;p10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99" name="Google Shape;599;p107"/>
          <p:cNvSpPr txBox="1">
            <a:spLocks noGrp="1"/>
          </p:cNvSpPr>
          <p:nvPr>
            <p:ph type="body" idx="1"/>
          </p:nvPr>
        </p:nvSpPr>
        <p:spPr>
          <a:xfrm>
            <a:off x="311700" y="1024250"/>
            <a:ext cx="8520600" cy="3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onOptionsItemSelected(MenuItem item)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R.id.action_settings: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showSettings();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R.id.action_favorites: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showFavorites();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return super.onOptionsItemSelected(item);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400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Menus</a:t>
            </a:r>
            <a:endParaRPr/>
          </a:p>
        </p:txBody>
      </p:sp>
      <p:sp>
        <p:nvSpPr>
          <p:cNvPr id="605" name="Google Shape;605;p10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0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607" name="Google Shape;607;p10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9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are contextual menus?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3" name="Google Shape;613;p10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614" name="Google Shape;614;p10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Allows users to perform action on selected View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deployed on any View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often used for items in RecyclerView, GridView, or other View collection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0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contextual menus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" name="Google Shape;620;p1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621" name="Google Shape;621;p110"/>
          <p:cNvSpPr txBox="1">
            <a:spLocks noGrp="1"/>
          </p:cNvSpPr>
          <p:nvPr>
            <p:ph type="body" idx="1"/>
          </p:nvPr>
        </p:nvSpPr>
        <p:spPr>
          <a:xfrm>
            <a:off x="1149900" y="1000075"/>
            <a:ext cx="79941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Floating context menu—long-press on a View 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User can modify View or use it in some fashion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User performs action on one View at a time</a:t>
            </a:r>
            <a:endParaRPr sz="1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Contextual action mode—temporary action bar in place of or underneath app bar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Action items affect the selected View element(s)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User can perform action on multiple View elements at once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pic>
        <p:nvPicPr>
          <p:cNvPr id="622" name="Google Shape;622;p110"/>
          <p:cNvPicPr preferRelativeResize="0"/>
          <p:nvPr/>
        </p:nvPicPr>
        <p:blipFill rotWithShape="1">
          <a:blip r:embed="rId3">
            <a:alphaModFix/>
          </a:blip>
          <a:srcRect l="51169"/>
          <a:stretch/>
        </p:blipFill>
        <p:spPr>
          <a:xfrm>
            <a:off x="54275" y="2838700"/>
            <a:ext cx="1027525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110"/>
          <p:cNvPicPr preferRelativeResize="0"/>
          <p:nvPr/>
        </p:nvPicPr>
        <p:blipFill rotWithShape="1">
          <a:blip r:embed="rId3">
            <a:alphaModFix/>
          </a:blip>
          <a:srcRect r="51169"/>
          <a:stretch/>
        </p:blipFill>
        <p:spPr>
          <a:xfrm>
            <a:off x="54275" y="1007125"/>
            <a:ext cx="1027525" cy="17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 Context Menu</a:t>
            </a:r>
            <a:endParaRPr/>
          </a:p>
        </p:txBody>
      </p:sp>
      <p:sp>
        <p:nvSpPr>
          <p:cNvPr id="629" name="Google Shape;629;p1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631" name="Google Shape;631;p1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1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159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7" name="Google Shape;637;p1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638" name="Google Shape;638;p112"/>
          <p:cNvSpPr txBox="1">
            <a:spLocks noGrp="1"/>
          </p:cNvSpPr>
          <p:nvPr>
            <p:ph type="body" idx="1"/>
          </p:nvPr>
        </p:nvSpPr>
        <p:spPr>
          <a:xfrm>
            <a:off x="0" y="2199650"/>
            <a:ext cx="9088200" cy="22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Register View using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onCreateContextMenu()</a:t>
            </a:r>
            <a:r>
              <a:rPr lang="en" sz="1800">
                <a:solidFill>
                  <a:schemeClr val="dk1"/>
                </a:solidFill>
              </a:rPr>
              <a:t> in Activity to inflate menu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onContextItemSelected()</a:t>
            </a:r>
            <a:r>
              <a:rPr lang="en" sz="1800">
                <a:solidFill>
                  <a:schemeClr val="dk1"/>
                </a:solidFill>
              </a:rPr>
              <a:t> to handle menu item clicks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method to perform action for each context menu item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639" name="Google Shape;639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375" y="94613"/>
            <a:ext cx="584835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1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menu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5" name="Google Shape;645;p1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646" name="Google Shape;646;p113"/>
          <p:cNvSpPr txBox="1">
            <a:spLocks noGrp="1"/>
          </p:cNvSpPr>
          <p:nvPr>
            <p:ph type="body" idx="1"/>
          </p:nvPr>
        </p:nvSpPr>
        <p:spPr>
          <a:xfrm>
            <a:off x="83100" y="964100"/>
            <a:ext cx="8520600" cy="3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XML menu resource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menu_context.xml</a:t>
            </a:r>
            <a:r>
              <a:rPr lang="en">
                <a:solidFill>
                  <a:schemeClr val="dk1"/>
                </a:solidFill>
              </a:rPr>
              <a:t>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android:id="@+id/context_edit"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android:title="Edit"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android:orderInCategory="10"/&gt;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&lt;item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android:id="@+id/context_share"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android:title="Share"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android:orderInCategory="20"/&gt;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1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 view to a context menu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2" name="Google Shape;652;p11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653" name="Google Shape;653;p114"/>
          <p:cNvSpPr txBox="1">
            <a:spLocks noGrp="1"/>
          </p:cNvSpPr>
          <p:nvPr>
            <p:ph type="body" idx="1"/>
          </p:nvPr>
        </p:nvSpPr>
        <p:spPr>
          <a:xfrm>
            <a:off x="83100" y="1192700"/>
            <a:ext cx="8937900" cy="31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onCreate() of the Activity: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n"/>
              <a:t>Register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View.OnCreateContextMenuListener</a:t>
            </a:r>
            <a:r>
              <a:rPr lang="en"/>
              <a:t> to View: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 article_text = findViewById(R.id.article);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registerForContextMenu(article_text);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onCreateContextMenu() onCreateContextMenu() method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9" name="Google Shape;659;p11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660" name="Google Shape;660;p115"/>
          <p:cNvSpPr txBox="1">
            <a:spLocks noGrp="1"/>
          </p:cNvSpPr>
          <p:nvPr>
            <p:ph type="body" idx="1"/>
          </p:nvPr>
        </p:nvSpPr>
        <p:spPr>
          <a:xfrm>
            <a:off x="70450" y="1192700"/>
            <a:ext cx="8761800" cy="32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n"/>
              <a:t>Specify which context menu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onCreateContextMenu(ContextMenu menu, View v,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ContextMenu.ContextMenuInfo menuInfo)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super.onCreateContextMenu(menu, v, menuInfo);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MenuInflater inflater = getMenuInflater();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.menu.menu_context, menu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onContextItemSelected() onCreateContextMenu() method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6" name="Google Shape;666;p11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667" name="Google Shape;667;p116"/>
          <p:cNvSpPr txBox="1">
            <a:spLocks noGrp="1"/>
          </p:cNvSpPr>
          <p:nvPr>
            <p:ph type="body" idx="1"/>
          </p:nvPr>
        </p:nvSpPr>
        <p:spPr>
          <a:xfrm>
            <a:off x="311700" y="982350"/>
            <a:ext cx="8520600" cy="33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onContextItemSelected(MenuItem item)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switch (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item.getItemId()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R.id.context_edit: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editNote();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case R.id.context_share: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shareNote();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default: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super.onContextItemSelected(item);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8" name="Google Shape;668;p116"/>
          <p:cNvSpPr/>
          <p:nvPr/>
        </p:nvSpPr>
        <p:spPr>
          <a:xfrm>
            <a:off x="9591575" y="3130300"/>
            <a:ext cx="2102400" cy="471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view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9" name="Google Shape;669;p116"/>
          <p:cNvCxnSpPr>
            <a:stCxn id="668" idx="2"/>
          </p:cNvCxnSpPr>
          <p:nvPr/>
        </p:nvCxnSpPr>
        <p:spPr>
          <a:xfrm rot="5400000">
            <a:off x="9709925" y="2965450"/>
            <a:ext cx="296100" cy="15696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Contextual Action Bar</a:t>
            </a:r>
            <a:endParaRPr/>
          </a:p>
        </p:txBody>
      </p:sp>
      <p:sp>
        <p:nvSpPr>
          <p:cNvPr id="675" name="Google Shape;675;p1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1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677" name="Google Shape;677;p1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8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Action Mode?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3" name="Google Shape;683;p11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684" name="Google Shape;684;p118"/>
          <p:cNvSpPr txBox="1">
            <a:spLocks noGrp="1"/>
          </p:cNvSpPr>
          <p:nvPr>
            <p:ph type="body" idx="1"/>
          </p:nvPr>
        </p:nvSpPr>
        <p:spPr>
          <a:xfrm>
            <a:off x="152400" y="1058588"/>
            <a:ext cx="8520600" cy="21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mode that lets you replace parts of normal UI interactions temporarily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For example: Selecting a section of text or long-pressing an item could trigger action mode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9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 mode has a lifecycle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0" name="Google Shape;690;p11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691" name="Google Shape;691;p119"/>
          <p:cNvSpPr txBox="1">
            <a:spLocks noGrp="1"/>
          </p:cNvSpPr>
          <p:nvPr>
            <p:ph type="body" idx="1"/>
          </p:nvPr>
        </p:nvSpPr>
        <p:spPr>
          <a:xfrm>
            <a:off x="83100" y="923875"/>
            <a:ext cx="9025800" cy="3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Start it with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startActionMode()</a:t>
            </a:r>
            <a:r>
              <a:rPr lang="en" sz="1800"/>
              <a:t>, for example, in the listener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ActionMode.Callback</a:t>
            </a:r>
            <a:r>
              <a:rPr lang="en" sz="1800"/>
              <a:t> interface provides lifecycle methods you override:</a:t>
            </a:r>
            <a:endParaRPr sz="1800"/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onCreateActionMode(ActionMode, Menu)</a:t>
            </a:r>
            <a:r>
              <a:rPr lang="en" sz="1800"/>
              <a:t> once on initial creation</a:t>
            </a:r>
            <a:endParaRPr sz="1800"/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onPrepareActionMode(ActionMode, Menu)</a:t>
            </a:r>
            <a:r>
              <a:rPr lang="en" sz="1800"/>
              <a:t> after creation and any time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ActionMode</a:t>
            </a:r>
            <a:r>
              <a:rPr lang="en" sz="1800"/>
              <a:t> is invalidated</a:t>
            </a:r>
            <a:endParaRPr sz="1800"/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onActionItemClicked(ActionMode, MenuItem)</a:t>
            </a:r>
            <a:r>
              <a:rPr lang="en" sz="1800"/>
              <a:t> any time contextual action button is clicked</a:t>
            </a:r>
            <a:endParaRPr sz="1800"/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onDestroyActionMode(ActionMode)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/>
              <a:t>when action mode is closed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20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contextual action bar?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7" name="Google Shape;697;p12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698" name="Google Shape;698;p12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Long-press on View shows contextual action bar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Contextual action bar with actions</a:t>
            </a:r>
            <a:endParaRPr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 b="1"/>
              <a:t>Edit</a:t>
            </a:r>
            <a:r>
              <a:rPr lang="en"/>
              <a:t>, </a:t>
            </a:r>
            <a:r>
              <a:rPr lang="en" b="1"/>
              <a:t>Share</a:t>
            </a:r>
            <a:r>
              <a:rPr lang="en"/>
              <a:t>, and </a:t>
            </a:r>
            <a:r>
              <a:rPr lang="en" b="1"/>
              <a:t>Delete</a:t>
            </a:r>
            <a:endParaRPr b="1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Done (left arrow icon) on left side</a:t>
            </a:r>
            <a:endParaRPr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Action bar is available until user taps Done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View on which long press triggers </a:t>
            </a:r>
            <a:br>
              <a:rPr lang="en"/>
            </a:br>
            <a:r>
              <a:rPr lang="en"/>
              <a:t>contextual action bar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pic>
        <p:nvPicPr>
          <p:cNvPr id="699" name="Google Shape;69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125" y="1698825"/>
            <a:ext cx="2048800" cy="28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for contextual action bar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5" name="Google Shape;705;p12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706" name="Google Shape;706;p121"/>
          <p:cNvSpPr txBox="1">
            <a:spLocks noGrp="1"/>
          </p:cNvSpPr>
          <p:nvPr>
            <p:ph type="body" idx="1"/>
          </p:nvPr>
        </p:nvSpPr>
        <p:spPr>
          <a:xfrm>
            <a:off x="56350" y="2786063"/>
            <a:ext cx="8520600" cy="16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ActionMode.Callback</a:t>
            </a:r>
            <a:r>
              <a:rPr lang="en" sz="1800">
                <a:solidFill>
                  <a:schemeClr val="dk1"/>
                </a:solidFill>
              </a:rPr>
              <a:t> interface to handle ActionMode lifecycle; include action for menu item click in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onActionItemClicked()</a:t>
            </a:r>
            <a:r>
              <a:rPr lang="en" sz="1800">
                <a:solidFill>
                  <a:schemeClr val="dk1"/>
                </a:solidFill>
              </a:rPr>
              <a:t> callback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" sz="1800">
                <a:solidFill>
                  <a:schemeClr val="dk1"/>
                </a:solidFill>
              </a:rPr>
              <a:t>Create method to perform action for each context menu item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07" name="Google Shape;70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113" y="1027393"/>
            <a:ext cx="4655226" cy="21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21"/>
          <p:cNvSpPr txBox="1">
            <a:spLocks noGrp="1"/>
          </p:cNvSpPr>
          <p:nvPr>
            <p:ph type="body" idx="1"/>
          </p:nvPr>
        </p:nvSpPr>
        <p:spPr>
          <a:xfrm>
            <a:off x="56350" y="1148400"/>
            <a:ext cx="4607100" cy="16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icons for items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setOnLongClickListener()</a:t>
            </a:r>
            <a:r>
              <a:rPr lang="en" sz="1800">
                <a:solidFill>
                  <a:schemeClr val="dk1"/>
                </a:solidFill>
              </a:rPr>
              <a:t> on View that triggers contextual action 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bar and call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startActionMode()</a:t>
            </a:r>
            <a:r>
              <a:rPr lang="en" sz="1800">
                <a:solidFill>
                  <a:schemeClr val="dk1"/>
                </a:solidFill>
              </a:rPr>
              <a:t> to handle click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setOnLongClickListener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4" name="Google Shape;714;p12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715" name="Google Shape;715;p122"/>
          <p:cNvSpPr txBox="1">
            <a:spLocks noGrp="1"/>
          </p:cNvSpPr>
          <p:nvPr>
            <p:ph type="body" idx="1"/>
          </p:nvPr>
        </p:nvSpPr>
        <p:spPr>
          <a:xfrm>
            <a:off x="86275" y="981350"/>
            <a:ext cx="8520600" cy="3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ActionMode mActionMode;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onCreate():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 view = findViewById(article);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view.</a:t>
            </a:r>
            <a:r>
              <a:rPr lang="en" sz="1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setOnLongClickListener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(new View.OnLongClickListener()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public boolean onLongClick(View view)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if (mActionMode != null) return false;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mActionMode =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MainActivity.this.</a:t>
            </a:r>
            <a:r>
              <a:rPr lang="en" sz="1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startActionMode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400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mActionModeCallback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view.setSelected(true);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mActionModeCallback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1" name="Google Shape;721;p12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722" name="Google Shape;722;p123"/>
          <p:cNvSpPr txBox="1">
            <a:spLocks noGrp="1"/>
          </p:cNvSpPr>
          <p:nvPr>
            <p:ph type="body" idx="1"/>
          </p:nvPr>
        </p:nvSpPr>
        <p:spPr>
          <a:xfrm>
            <a:off x="372600" y="1199750"/>
            <a:ext cx="8520600" cy="3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ActionMode.Callback mActionModeCallback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new ActionMode.Callback()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action mode callbacks here.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2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onCreateActionMode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8" name="Google Shape;728;p12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729" name="Google Shape;729;p124"/>
          <p:cNvSpPr txBox="1">
            <a:spLocks noGrp="1"/>
          </p:cNvSpPr>
          <p:nvPr>
            <p:ph type="body" idx="1"/>
          </p:nvPr>
        </p:nvSpPr>
        <p:spPr>
          <a:xfrm>
            <a:off x="311700" y="1192700"/>
            <a:ext cx="8520600" cy="32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boolean onCreateActionMode(ActionMode mode, Menu menu)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MenuInflater inflater = mode.getMenuInflater();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inflater.inflate(R.menu.menu_context, menu);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2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onPrepareActionMode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5" name="Google Shape;735;p12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736" name="Google Shape;736;p125"/>
          <p:cNvSpPr txBox="1">
            <a:spLocks noGrp="1"/>
          </p:cNvSpPr>
          <p:nvPr>
            <p:ph type="body" idx="1"/>
          </p:nvPr>
        </p:nvSpPr>
        <p:spPr>
          <a:xfrm>
            <a:off x="83100" y="1192700"/>
            <a:ext cx="8520600" cy="11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Called each time action mode is shown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Always called after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onCreateActionMode</a:t>
            </a:r>
            <a:r>
              <a:rPr lang="en" sz="1800"/>
              <a:t>, but may be called multiple times if action mode is invalidated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7" name="Google Shape;737;p125"/>
          <p:cNvSpPr txBox="1"/>
          <p:nvPr/>
        </p:nvSpPr>
        <p:spPr>
          <a:xfrm>
            <a:off x="523025" y="2539225"/>
            <a:ext cx="8585700" cy="17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public boolean onPrepareActionMode(ActionMode mode, Menu menu) {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 return false; // Return false if nothing is done.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2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onActionItemClicked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3" name="Google Shape;743;p12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744" name="Google Shape;744;p126"/>
          <p:cNvSpPr txBox="1">
            <a:spLocks noGrp="1"/>
          </p:cNvSpPr>
          <p:nvPr>
            <p:ph type="body" idx="1"/>
          </p:nvPr>
        </p:nvSpPr>
        <p:spPr>
          <a:xfrm>
            <a:off x="63400" y="1013425"/>
            <a:ext cx="9038400" cy="3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Called when users selects an action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Handle clicks in this method</a:t>
            </a:r>
            <a:endParaRPr sz="900" i="1">
              <a:solidFill>
                <a:srgbClr val="80808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public boolean onActionItemClicked(ActionMode mode, MenuItem item)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case R.id.action_share: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// Perform action for the Share menu item.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mode.finish(); // Action picked, so close the action bar.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return true;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return false;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27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onDestroyActionMode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50" name="Google Shape;750;p12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751" name="Google Shape;751;p127"/>
          <p:cNvSpPr txBox="1">
            <a:spLocks noGrp="1"/>
          </p:cNvSpPr>
          <p:nvPr>
            <p:ph type="body" idx="1"/>
          </p:nvPr>
        </p:nvSpPr>
        <p:spPr>
          <a:xfrm>
            <a:off x="311700" y="1040300"/>
            <a:ext cx="8520600" cy="3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Called when user exits the action mode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onDestroyActionMode(ActionMode mode)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mActionMode = null;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Popup Menu</a:t>
            </a:r>
            <a:endParaRPr/>
          </a:p>
        </p:txBody>
      </p:sp>
      <p:sp>
        <p:nvSpPr>
          <p:cNvPr id="757" name="Google Shape;757;p1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2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759" name="Google Shape;759;p1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9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 popup menu?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5" name="Google Shape;765;p12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766" name="Google Shape;766;p12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Vertical list of items anchored to a view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Typically anchored to a visible icon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Actions should not directly affect view content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Options menu overflow icon that opens options menu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 email app, </a:t>
            </a:r>
            <a:r>
              <a:rPr lang="en" b="1"/>
              <a:t>Reply All</a:t>
            </a:r>
            <a:r>
              <a:rPr lang="en"/>
              <a:t> and </a:t>
            </a:r>
            <a:r>
              <a:rPr lang="en" b="1"/>
              <a:t>Forward</a:t>
            </a:r>
            <a:r>
              <a:rPr lang="en"/>
              <a:t> relate to email message but don’t affect or act on message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  <p:pic>
        <p:nvPicPr>
          <p:cNvPr id="767" name="Google Shape;767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155" y="1062825"/>
            <a:ext cx="1734450" cy="12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30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160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3" name="Google Shape;773;p13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774" name="Google Shape;774;p130"/>
          <p:cNvSpPr txBox="1">
            <a:spLocks noGrp="1"/>
          </p:cNvSpPr>
          <p:nvPr>
            <p:ph type="body" idx="1"/>
          </p:nvPr>
        </p:nvSpPr>
        <p:spPr>
          <a:xfrm>
            <a:off x="235500" y="1894850"/>
            <a:ext cx="8983500" cy="280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XML menu resource file and assign appearance and position attributes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Add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r>
              <a:rPr lang="en" sz="1800">
                <a:solidFill>
                  <a:schemeClr val="dk1"/>
                </a:solidFill>
              </a:rPr>
              <a:t> for the popup menu icon in the XML activity layout file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Assign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onClickListener</a:t>
            </a:r>
            <a:r>
              <a:rPr lang="en" sz="1800">
                <a:solidFill>
                  <a:schemeClr val="dk1"/>
                </a:solidFill>
              </a:rPr>
              <a:t> to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Override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onClick()</a:t>
            </a:r>
            <a:r>
              <a:rPr lang="en" sz="1800">
                <a:solidFill>
                  <a:schemeClr val="dk1"/>
                </a:solidFill>
              </a:rPr>
              <a:t> to inflate the popup and register it with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onMenuItemClickListener()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Implement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onMenuItemClick()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Create a method to perform an action for each popup menu item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5" name="Google Shape;775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650" y="170825"/>
            <a:ext cx="56959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3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ImageButton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1" name="Google Shape;781;p13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782" name="Google Shape;782;p131"/>
          <p:cNvSpPr txBox="1">
            <a:spLocks noGrp="1"/>
          </p:cNvSpPr>
          <p:nvPr>
            <p:ph type="body" idx="1"/>
          </p:nvPr>
        </p:nvSpPr>
        <p:spPr>
          <a:xfrm>
            <a:off x="311700" y="1192700"/>
            <a:ext cx="8520600" cy="32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&lt;ImageButton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android:id="@+id/button_popup"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android:src="@drawable/@drawable/ic_action_popup"/&gt;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83" name="Google Shape;783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00" y="1192688"/>
            <a:ext cx="350025" cy="4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3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 onClickListener to 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9" name="Google Shape;789;p13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790" name="Google Shape;790;p132"/>
          <p:cNvSpPr txBox="1">
            <a:spLocks noGrp="1"/>
          </p:cNvSpPr>
          <p:nvPr>
            <p:ph type="body" idx="1"/>
          </p:nvPr>
        </p:nvSpPr>
        <p:spPr>
          <a:xfrm>
            <a:off x="327225" y="1192700"/>
            <a:ext cx="8988900" cy="3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ImageButton mButton = 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(ImageButton) findViewById(R.id.button_popup);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onCreate():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mButton.setOnClickListener(new View.OnClickListener()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define onClick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onClick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96" name="Google Shape;796;p13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797" name="Google Shape;797;p133"/>
          <p:cNvSpPr txBox="1">
            <a:spLocks noGrp="1"/>
          </p:cNvSpPr>
          <p:nvPr>
            <p:ph type="body" idx="1"/>
          </p:nvPr>
        </p:nvSpPr>
        <p:spPr>
          <a:xfrm>
            <a:off x="311700" y="1040300"/>
            <a:ext cx="8709300" cy="3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PopupMenu popup = new PopupMenu(MainActivity.this, mButton);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popup.getMenuInflater().inflate(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R.menu.menu_popup, popup.getMenu());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popup.setOnMenuItemClickListener(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new PopupMenu.OnMenuItemClickListener()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// implement click listener.</a:t>
            </a:r>
            <a:endParaRPr sz="180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popup.show();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onMenuItemClick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3" name="Google Shape;803;p13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804" name="Google Shape;804;p134"/>
          <p:cNvSpPr txBox="1">
            <a:spLocks noGrp="1"/>
          </p:cNvSpPr>
          <p:nvPr>
            <p:ph type="body" idx="1"/>
          </p:nvPr>
        </p:nvSpPr>
        <p:spPr>
          <a:xfrm>
            <a:off x="311700" y="1040300"/>
            <a:ext cx="8520600" cy="3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boolean onMenuItemClick(MenuItem item)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switch (item.getItemId())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case R.id.option_forward: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// Implement code for Forward button.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return true;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default: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return false;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35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</a:t>
            </a:r>
            <a:endParaRPr/>
          </a:p>
        </p:txBody>
      </p:sp>
      <p:sp>
        <p:nvSpPr>
          <p:cNvPr id="810" name="Google Shape;810;p1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3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6"/>
          <p:cNvSpPr txBox="1"/>
          <p:nvPr/>
        </p:nvSpPr>
        <p:spPr>
          <a:xfrm>
            <a:off x="2581138" y="4153193"/>
            <a:ext cx="1956300" cy="4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DatePickerDialog</a:t>
            </a:r>
            <a:endParaRPr sz="1800"/>
          </a:p>
        </p:txBody>
      </p:sp>
      <p:sp>
        <p:nvSpPr>
          <p:cNvPr id="817" name="Google Shape;817;p136"/>
          <p:cNvSpPr txBox="1"/>
          <p:nvPr/>
        </p:nvSpPr>
        <p:spPr>
          <a:xfrm>
            <a:off x="371750" y="4166725"/>
            <a:ext cx="20934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TimePickerDialog</a:t>
            </a:r>
            <a:endParaRPr sz="1800"/>
          </a:p>
        </p:txBody>
      </p:sp>
      <p:sp>
        <p:nvSpPr>
          <p:cNvPr id="818" name="Google Shape;818;p13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Dialogs</a:t>
            </a:r>
            <a:endParaRPr/>
          </a:p>
        </p:txBody>
      </p:sp>
      <p:sp>
        <p:nvSpPr>
          <p:cNvPr id="819" name="Google Shape;819;p13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820" name="Google Shape;820;p136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5210400" cy="16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Dialog</a:t>
            </a:r>
            <a:r>
              <a:rPr lang="en"/>
              <a:t> appears on top, interrupting flow of Activity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Requires user action to dismiss</a:t>
            </a:r>
            <a:endParaRPr/>
          </a:p>
        </p:txBody>
      </p:sp>
      <p:pic>
        <p:nvPicPr>
          <p:cNvPr id="821" name="Google Shape;821;p1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8300" y="1461347"/>
            <a:ext cx="3526700" cy="15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136"/>
          <p:cNvPicPr preferRelativeResize="0"/>
          <p:nvPr/>
        </p:nvPicPr>
        <p:blipFill rotWithShape="1">
          <a:blip r:embed="rId7">
            <a:alphaModFix/>
          </a:blip>
          <a:srcRect r="51669"/>
          <a:stretch/>
        </p:blipFill>
        <p:spPr>
          <a:xfrm>
            <a:off x="6545150" y="2231464"/>
            <a:ext cx="1001450" cy="17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136"/>
          <p:cNvPicPr preferRelativeResize="0"/>
          <p:nvPr/>
        </p:nvPicPr>
        <p:blipFill rotWithShape="1">
          <a:blip r:embed="rId7">
            <a:alphaModFix/>
          </a:blip>
          <a:srcRect l="51669" t="9762" b="12880"/>
          <a:stretch/>
        </p:blipFill>
        <p:spPr>
          <a:xfrm>
            <a:off x="2901076" y="2604550"/>
            <a:ext cx="1121912" cy="15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136"/>
          <p:cNvSpPr txBox="1"/>
          <p:nvPr/>
        </p:nvSpPr>
        <p:spPr>
          <a:xfrm>
            <a:off x="6347900" y="4143925"/>
            <a:ext cx="1719000" cy="43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AlertDialog</a:t>
            </a:r>
            <a:endParaRPr sz="1800"/>
          </a:p>
        </p:txBody>
      </p:sp>
      <p:pic>
        <p:nvPicPr>
          <p:cNvPr id="825" name="Google Shape;825;p136"/>
          <p:cNvPicPr preferRelativeResize="0"/>
          <p:nvPr/>
        </p:nvPicPr>
        <p:blipFill rotWithShape="1">
          <a:blip r:embed="rId9">
            <a:alphaModFix/>
          </a:blip>
          <a:srcRect l="54408" t="8751" r="3540" b="8136"/>
          <a:stretch/>
        </p:blipFill>
        <p:spPr>
          <a:xfrm>
            <a:off x="851550" y="2636537"/>
            <a:ext cx="1168182" cy="1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AlertDialog</a:t>
            </a:r>
            <a:endParaRPr/>
          </a:p>
        </p:txBody>
      </p:sp>
      <p:sp>
        <p:nvSpPr>
          <p:cNvPr id="831" name="Google Shape;831;p13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832" name="Google Shape;832;p13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4530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AlertDialog</a:t>
            </a:r>
            <a:r>
              <a:rPr lang="en"/>
              <a:t> can show: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Title (optional)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Content area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Action buttons</a:t>
            </a:r>
            <a:endParaRPr/>
          </a:p>
        </p:txBody>
      </p:sp>
      <p:pic>
        <p:nvPicPr>
          <p:cNvPr id="833" name="Google Shape;833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350" y="1236525"/>
            <a:ext cx="481012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3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the AlertDialog</a:t>
            </a:r>
            <a:endParaRPr/>
          </a:p>
        </p:txBody>
      </p:sp>
      <p:sp>
        <p:nvSpPr>
          <p:cNvPr id="839" name="Google Shape;839;p13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AlertDialog.Builder</a:t>
            </a:r>
            <a:r>
              <a:rPr lang="en"/>
              <a:t> to build alert dialog and set attributes: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public void onClickShowAlert(View view)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AlertDialog.Builder alertDialog = new          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   AlertDialog.Builder(MainActivity.this);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alertDialog.setTitle("Connect to Provider");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alertDialog.setMessage(R.string.alert_message);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// ... Code to set buttons goes here.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3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3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the button actions</a:t>
            </a:r>
            <a:endParaRPr/>
          </a:p>
        </p:txBody>
      </p:sp>
      <p:sp>
        <p:nvSpPr>
          <p:cNvPr id="846" name="Google Shape;846;p13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09600" cy="3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alertDialog.setPositiveButton()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alertDialog.setNeutralButton()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alertDialog.setNegativeButton()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13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4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alertDialog code example</a:t>
            </a:r>
            <a:endParaRPr/>
          </a:p>
        </p:txBody>
      </p:sp>
      <p:sp>
        <p:nvSpPr>
          <p:cNvPr id="853" name="Google Shape;853;p14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alertDialog.setPositiveButton(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       "OK", newDialogInterface.OnClickListener()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public void onClick(DialogInterface dialog, int which)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// User clicked OK button.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Same pattern for setNegativeButton() and setNeutralButton()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p14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1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</a:t>
            </a:r>
            <a:endParaRPr/>
          </a:p>
        </p:txBody>
      </p:sp>
      <p:sp>
        <p:nvSpPr>
          <p:cNvPr id="860" name="Google Shape;860;p1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4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</a:t>
            </a:r>
            <a:endParaRPr/>
          </a:p>
        </p:txBody>
      </p:sp>
      <p:sp>
        <p:nvSpPr>
          <p:cNvPr id="867" name="Google Shape;867;p14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868" name="Google Shape;868;p142"/>
          <p:cNvSpPr txBox="1"/>
          <p:nvPr/>
        </p:nvSpPr>
        <p:spPr>
          <a:xfrm>
            <a:off x="358175" y="1303775"/>
            <a:ext cx="4197900" cy="30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4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4197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DatePickerDialog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TimePickerDialog</a:t>
            </a:r>
            <a:endParaRPr/>
          </a:p>
        </p:txBody>
      </p:sp>
      <p:pic>
        <p:nvPicPr>
          <p:cNvPr id="870" name="Google Shape;870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5500" y="1317488"/>
            <a:ext cx="42386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Pickers use fragments</a:t>
            </a:r>
            <a:endParaRPr/>
          </a:p>
        </p:txBody>
      </p:sp>
      <p:sp>
        <p:nvSpPr>
          <p:cNvPr id="876" name="Google Shape;876;p1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989800" cy="3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DialogFragment</a:t>
            </a:r>
            <a:r>
              <a:rPr lang="en"/>
              <a:t> to show a picker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DialogFragment is a window that floats on top of Activity window</a:t>
            </a:r>
            <a:endParaRPr/>
          </a:p>
        </p:txBody>
      </p:sp>
      <p:sp>
        <p:nvSpPr>
          <p:cNvPr id="877" name="Google Shape;877;p14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pic>
        <p:nvPicPr>
          <p:cNvPr id="878" name="Google Shape;878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6675" y="1127125"/>
            <a:ext cx="24384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fragments</a:t>
            </a:r>
            <a:endParaRPr/>
          </a:p>
        </p:txBody>
      </p:sp>
      <p:sp>
        <p:nvSpPr>
          <p:cNvPr id="884" name="Google Shape;884;p14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09600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</a:t>
            </a:r>
            <a:r>
              <a:rPr lang="en" u="sng">
                <a:solidFill>
                  <a:schemeClr val="hlink"/>
                </a:solidFill>
                <a:hlinkClick r:id="rId3"/>
              </a:rPr>
              <a:t>Fragment</a:t>
            </a:r>
            <a:r>
              <a:rPr lang="en"/>
              <a:t> is like a mini-Activity within an Activity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Manages its own own lifecycle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Receives its own input events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added or removed while parent Activity is running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Multiple fragments can be combined in a single Activity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reused in more than one Activity</a:t>
            </a:r>
            <a:endParaRPr/>
          </a:p>
        </p:txBody>
      </p:sp>
      <p:sp>
        <p:nvSpPr>
          <p:cNvPr id="885" name="Google Shape;885;p14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date picker dialog</a:t>
            </a:r>
            <a:endParaRPr/>
          </a:p>
        </p:txBody>
      </p:sp>
      <p:sp>
        <p:nvSpPr>
          <p:cNvPr id="891" name="Google Shape;891;p145"/>
          <p:cNvSpPr txBox="1">
            <a:spLocks noGrp="1"/>
          </p:cNvSpPr>
          <p:nvPr>
            <p:ph type="body" idx="1"/>
          </p:nvPr>
        </p:nvSpPr>
        <p:spPr>
          <a:xfrm>
            <a:off x="235500" y="1076275"/>
            <a:ext cx="8908500" cy="3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Add a blank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/>
              <a:t> that 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/>
              <a:t> and implements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DatePickerDialog.OnDateSetListener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/>
              <a:t> initialize the date and return the dialog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onDateSet()</a:t>
            </a:r>
            <a:r>
              <a:rPr lang="en"/>
              <a:t> handle the date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show the picker and add method to use date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4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time picker dialog</a:t>
            </a:r>
            <a:endParaRPr/>
          </a:p>
        </p:txBody>
      </p:sp>
      <p:sp>
        <p:nvSpPr>
          <p:cNvPr id="898" name="Google Shape;898;p146"/>
          <p:cNvSpPr txBox="1">
            <a:spLocks noGrp="1"/>
          </p:cNvSpPr>
          <p:nvPr>
            <p:ph type="body" idx="1"/>
          </p:nvPr>
        </p:nvSpPr>
        <p:spPr>
          <a:xfrm>
            <a:off x="235500" y="1076275"/>
            <a:ext cx="8908500" cy="3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Add a blank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/>
              <a:t> that 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/>
              <a:t> and implements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TimePickerDialog.OnTimeSetListener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onCreateDialog()</a:t>
            </a:r>
            <a:r>
              <a:rPr lang="en"/>
              <a:t> initialize the time and return the dialog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onTimeSet()</a:t>
            </a:r>
            <a:r>
              <a:rPr lang="en"/>
              <a:t> handle the time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Activity, show the picker and add method to use time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p14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4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905" name="Google Shape;905;p147"/>
          <p:cNvSpPr txBox="1">
            <a:spLocks noGrp="1"/>
          </p:cNvSpPr>
          <p:nvPr>
            <p:ph type="body" idx="1"/>
          </p:nvPr>
        </p:nvSpPr>
        <p:spPr>
          <a:xfrm>
            <a:off x="411625" y="1051425"/>
            <a:ext cx="7910700" cy="36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Adding the App Bar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 Resource</a:t>
            </a:r>
            <a:r>
              <a:rPr lang="en"/>
              <a:t>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Fragments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Dialogs</a:t>
            </a:r>
            <a:r>
              <a:rPr lang="en"/>
              <a:t>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Pickers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Drawable Resources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6" name="Google Shape;906;p147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4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912" name="Google Shape;912;p14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sp>
        <p:nvSpPr>
          <p:cNvPr id="913" name="Google Shape;913;p14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w="381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4.3 Menus and pickers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4.3 Menus and pickers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919" name="Google Shape;919;p14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4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2868</Words>
  <Application>Microsoft Macintosh PowerPoint</Application>
  <PresentationFormat>On-screen Show (16:9)</PresentationFormat>
  <Paragraphs>460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Roboto</vt:lpstr>
      <vt:lpstr>Consolas</vt:lpstr>
      <vt:lpstr>Arial</vt:lpstr>
      <vt:lpstr>Open Sans</vt:lpstr>
      <vt:lpstr>GDT master</vt:lpstr>
      <vt:lpstr>GDT master</vt:lpstr>
      <vt:lpstr>GDT master</vt:lpstr>
      <vt:lpstr>GDT master</vt:lpstr>
      <vt:lpstr>GDT master</vt:lpstr>
      <vt:lpstr>GDT master</vt:lpstr>
      <vt:lpstr>GDT master</vt:lpstr>
      <vt:lpstr>PowerPoint Presentation</vt:lpstr>
      <vt:lpstr>4.3 Menus and pickers</vt:lpstr>
      <vt:lpstr>Contents</vt:lpstr>
      <vt:lpstr>Overview</vt:lpstr>
      <vt:lpstr>Types of Menus</vt:lpstr>
      <vt:lpstr>Dialogs and pickers</vt:lpstr>
      <vt:lpstr>App Bar (Toolbar) with Options Menu</vt:lpstr>
      <vt:lpstr>What is the App Bar?</vt:lpstr>
      <vt:lpstr>What is the options menu?</vt:lpstr>
      <vt:lpstr>Adding Options Menu</vt:lpstr>
      <vt:lpstr>Steps to implement options menu</vt:lpstr>
      <vt:lpstr>Create menu resource</vt:lpstr>
      <vt:lpstr>Inflate options menu</vt:lpstr>
      <vt:lpstr>Show App bar</vt:lpstr>
      <vt:lpstr>Add icons for menu items</vt:lpstr>
      <vt:lpstr>Add menu item attributes</vt:lpstr>
      <vt:lpstr>Override onOptionsItemSelected()</vt:lpstr>
      <vt:lpstr>Contextual Menus</vt:lpstr>
      <vt:lpstr>What are contextual menus?</vt:lpstr>
      <vt:lpstr>Types of contextual menus</vt:lpstr>
      <vt:lpstr>Floating Context Menu</vt:lpstr>
      <vt:lpstr>Steps </vt:lpstr>
      <vt:lpstr>Create menu resource</vt:lpstr>
      <vt:lpstr>Register a view to a context menu</vt:lpstr>
      <vt:lpstr>Implement onCreateContextMenu() onCreateContextMenu() method</vt:lpstr>
      <vt:lpstr>Implement onContextItemSelected() onCreateContextMenu() method</vt:lpstr>
      <vt:lpstr>Contextual Action Bar</vt:lpstr>
      <vt:lpstr>What is Action Mode?</vt:lpstr>
      <vt:lpstr>Action mode has a lifecycle</vt:lpstr>
      <vt:lpstr>What is a contextual action bar?</vt:lpstr>
      <vt:lpstr>Steps for contextual action bar</vt:lpstr>
      <vt:lpstr>Use setOnLongClickListener</vt:lpstr>
      <vt:lpstr>Implement mActionModeCallback</vt:lpstr>
      <vt:lpstr>Implement onCreateActionMode</vt:lpstr>
      <vt:lpstr>Implement onPrepareActionMode</vt:lpstr>
      <vt:lpstr>Implement onActionItemClicked</vt:lpstr>
      <vt:lpstr>Implement onDestroyActionMode</vt:lpstr>
      <vt:lpstr>Popup Menu</vt:lpstr>
      <vt:lpstr>What is a popup menu?</vt:lpstr>
      <vt:lpstr>Steps</vt:lpstr>
      <vt:lpstr>Add ImageButton</vt:lpstr>
      <vt:lpstr>Assign onClickListener to button</vt:lpstr>
      <vt:lpstr>Implement onClick</vt:lpstr>
      <vt:lpstr>Implement onMenuItemClick</vt:lpstr>
      <vt:lpstr>Dialogs</vt:lpstr>
      <vt:lpstr>Dialogs</vt:lpstr>
      <vt:lpstr>AlertDialog</vt:lpstr>
      <vt:lpstr>Build the AlertDialog</vt:lpstr>
      <vt:lpstr>Set the button actions</vt:lpstr>
      <vt:lpstr>alertDialog code example</vt:lpstr>
      <vt:lpstr>Pickers</vt:lpstr>
      <vt:lpstr>Pickers</vt:lpstr>
      <vt:lpstr>Pickers use fragments</vt:lpstr>
      <vt:lpstr>Introduction to fragments</vt:lpstr>
      <vt:lpstr>Creating a date picker dialog</vt:lpstr>
      <vt:lpstr>Creating a time picker dialog</vt:lpstr>
      <vt:lpstr>Learn more</vt:lpstr>
      <vt:lpstr>What's Next?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Đặng Ngọc Hoàng Thành</cp:lastModifiedBy>
  <cp:revision>1</cp:revision>
  <dcterms:modified xsi:type="dcterms:W3CDTF">2024-10-28T04:08:56Z</dcterms:modified>
</cp:coreProperties>
</file>